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גובה (רגל)</c:v>
                </c:pt>
              </c:strCache>
            </c:strRef>
          </c:tx>
          <c:spPr>
            <a:solidFill>
              <a:srgbClr val="2F5D46"/>
            </a:solidFill>
            <a:effectLst/>
          </c:spPr>
          <c:invertIfNegative val="0"/>
          <c:dLbls>
            <c:numFmt formatCode="#,##0" sourceLinked="0"/>
            <c:txPr>
              <a:bodyPr/>
              <a:lstStyle/>
              <a:p>
                <a:pPr>
                  <a:defRPr b="0" i="0" strike="noStrike" sz="1100" u="none">
                    <a:solidFill>
                      <a:srgbClr val="1E2421"/>
                    </a:solidFill>
                    <a:latin typeface="Calibri"/>
                  </a:defRPr>
                </a:pPr>
              </a:p>
            </c:txPr>
            <c:showLegendKey val="0"/>
            <c:showVal val="1"/>
            <c:showCatName val="0"/>
            <c:showSerName val="0"/>
            <c:showPercent val="0"/>
            <c:showBubbleSize val="0"/>
            <c:showLeaderLines val="0"/>
          </c:dLbls>
          <c:cat>
            <c:multiLvlStrRef>
              <c:f>Sheet1!$A$2:$A$8</c:f>
              <c:multiLvlStrCache>
                <c:ptCount val="7"/>
                <c:lvl>
                  <c:pt idx="0">
                    <c:v>Bear Lake (RMNP)</c:v>
                  </c:pt>
                  <c:pt idx="1">
                    <c:v>Ouray (town, approx.)</c:v>
                  </c:pt>
                  <c:pt idx="2">
                    <c:v>Red Mountain Pass</c:v>
                  </c:pt>
                  <c:pt idx="3">
                    <c:v>Trail Ridge Road (high point)</c:v>
                  </c:pt>
                  <c:pt idx="4">
                    <c:v>Ice Lake Trail (max)</c:v>
                  </c:pt>
                  <c:pt idx="5">
                    <c:v>Upper Blue Lake</c:v>
                  </c:pt>
                  <c:pt idx="6">
                    <c:v>Pikes Peak (summit)</c:v>
                  </c:pt>
                </c:lvl>
              </c:multiLvlStrCache>
            </c:multiLvlStrRef>
          </c:cat>
          <c:val>
            <c:numRef>
              <c:f>Sheet1!$B$2:$B$8</c:f>
              <c:numCache>
                <c:formatCode>General</c:formatCode>
                <c:ptCount val="7"/>
                <c:pt idx="0">
                  <c:v>9475</c:v>
                </c:pt>
                <c:pt idx="1">
                  <c:v>7700</c:v>
                </c:pt>
                <c:pt idx="2">
                  <c:v>11018</c:v>
                </c:pt>
                <c:pt idx="3">
                  <c:v>12183</c:v>
                </c:pt>
                <c:pt idx="4">
                  <c:v>12260</c:v>
                </c:pt>
                <c:pt idx="5">
                  <c:v>12392</c:v>
                </c:pt>
                <c:pt idx="6">
                  <c:v>14115</c:v>
                </c:pt>
              </c:numCache>
            </c:numRef>
          </c:val>
        </c:ser>
        <c:dLbls>
          <c:numFmt formatCode="#,##0" sourceLinked="0"/>
          <c:txPr>
            <a:bodyPr/>
            <a:lstStyle/>
            <a:p>
              <a:pPr>
                <a:defRPr b="0" i="0" strike="noStrike" sz="1100" u="none">
                  <a:solidFill>
                    <a:srgbClr val="1E2421"/>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421"/>
                </a:solidFill>
                <a:latin typeface="Calibri"/>
              </a:defRPr>
            </a:pPr>
            <a:endParaRPr lang="en-US"/>
          </a:p>
        </c:txPr>
        <c:crossAx val="2094734552"/>
        <c:crosses val="autoZero"/>
        <c:auto val="1"/>
        <c:lblAlgn val="ctr"/>
        <c:noMultiLvlLbl val="1"/>
      </c:catAx>
      <c:valAx>
        <c:axId val="2094734552"/>
        <c:scaling>
          <c:orientation val="minMax"/>
          <c:max val="15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26"/>
        </a:solidFill>
      </p:bgPr>
    </p:bg>
    <p:spTree>
      <p:nvGrpSpPr>
        <p:cNvPr id="1" name=""/>
        <p:cNvGrpSpPr/>
        <p:nvPr/>
      </p:nvGrpSpPr>
      <p:grpSpPr>
        <a:xfrm>
          <a:off x="0" y="0"/>
          <a:ext cx="0" cy="0"/>
          <a:chOff x="0" y="0"/>
          <a:chExt cx="0" cy="0"/>
        </a:xfrm>
      </p:grpSpPr>
      <p:sp>
        <p:nvSpPr>
          <p:cNvPr id="2" name="Shape 0"/>
          <p:cNvSpPr/>
          <p:nvPr/>
        </p:nvSpPr>
        <p:spPr>
          <a:xfrm>
            <a:off x="5120640" y="0"/>
            <a:ext cx="4023360" cy="5143500"/>
          </a:xfrm>
          <a:prstGeom prst="rect">
            <a:avLst/>
          </a:prstGeom>
          <a:solidFill>
            <a:srgbClr val="2A3F36"/>
          </a:solidFill>
          <a:ln w="12700">
            <a:solidFill>
              <a:srgbClr val="6E8A7C"/>
            </a:solidFill>
            <a:prstDash val="dash"/>
          </a:ln>
        </p:spPr>
      </p:sp>
      <p:sp>
        <p:nvSpPr>
          <p:cNvPr id="3" name="Text 1"/>
          <p:cNvSpPr txBox="1"/>
          <p:nvPr/>
        </p:nvSpPr>
        <p:spPr>
          <a:xfrm>
            <a:off x="5230368" y="109728"/>
            <a:ext cx="3803904" cy="4924044"/>
          </a:xfrm>
          <a:prstGeom prst="rect">
            <a:avLst/>
          </a:prstGeom>
          <a:noFill/>
          <a:ln/>
        </p:spPr>
        <p:txBody>
          <a:bodyPr wrap="square" lIns="0" tIns="0" rIns="0" bIns="0" rtlCol="0" anchor="ctr"/>
          <a:lstStyle/>
          <a:p>
            <a:pPr rtl="1" algn="ctr" indent="0" marL="0">
              <a:buNone/>
            </a:pPr>
            <a:r>
              <a:rPr lang="en-US" sz="1100" i="1" dirty="0">
                <a:solidFill>
                  <a:srgbClr val="C9D6CE"/>
                </a:solidFill>
                <a:latin typeface="Calibri" pitchFamily="34" charset="0"/>
                <a:ea typeface="Calibri" pitchFamily="34" charset="-122"/>
                <a:cs typeface="Calibri" pitchFamily="34" charset="-120"/>
              </a:rPr>
              <a:t>[תמונה לשילוב: רכס הרי הרוקי בשעת בוקר, צילום נוף רחב של אגם או פסגה מושלגת – צילום אמיתי של האזור, לא תמונת AI]</a:t>
            </a:r>
            <a:endParaRPr lang="en-US" sz="1100" dirty="0"/>
          </a:p>
        </p:txBody>
      </p:sp>
      <p:sp>
        <p:nvSpPr>
          <p:cNvPr id="4" name="Text 2"/>
          <p:cNvSpPr txBox="1"/>
          <p:nvPr/>
        </p:nvSpPr>
        <p:spPr>
          <a:xfrm>
            <a:off x="457200" y="1371600"/>
            <a:ext cx="4480560" cy="1005840"/>
          </a:xfrm>
          <a:prstGeom prst="rect">
            <a:avLst/>
          </a:prstGeom>
          <a:noFill/>
          <a:ln/>
        </p:spPr>
        <p:txBody>
          <a:bodyPr wrap="square" lIns="0" tIns="0" rIns="0" bIns="0" rtlCol="0" anchor="ctr"/>
          <a:lstStyle/>
          <a:p>
            <a:pPr rtl="1" algn="r" indent="0" marL="0">
              <a:buNone/>
            </a:pPr>
            <a:r>
              <a:rPr lang="en-US" sz="3800" b="1" dirty="0">
                <a:solidFill>
                  <a:srgbClr val="FFFFFF"/>
                </a:solidFill>
                <a:latin typeface="Cambria" pitchFamily="34" charset="0"/>
                <a:ea typeface="Cambria" pitchFamily="34" charset="-122"/>
                <a:cs typeface="Cambria" pitchFamily="34" charset="-120"/>
              </a:rPr>
              <a:t>מסע טבע בקולורדו</a:t>
            </a:r>
            <a:endParaRPr lang="en-US" sz="3800" dirty="0"/>
          </a:p>
        </p:txBody>
      </p:sp>
      <p:sp>
        <p:nvSpPr>
          <p:cNvPr id="5" name="Text 3"/>
          <p:cNvSpPr txBox="1"/>
          <p:nvPr/>
        </p:nvSpPr>
        <p:spPr>
          <a:xfrm>
            <a:off x="457200" y="2377440"/>
            <a:ext cx="4480560" cy="457200"/>
          </a:xfrm>
          <a:prstGeom prst="rect">
            <a:avLst/>
          </a:prstGeom>
          <a:noFill/>
          <a:ln/>
        </p:spPr>
        <p:txBody>
          <a:bodyPr wrap="square" lIns="0" tIns="0" rIns="0" bIns="0" rtlCol="0" anchor="ctr"/>
          <a:lstStyle/>
          <a:p>
            <a:pPr algn="r" indent="0" marL="0">
              <a:buNone/>
            </a:pPr>
            <a:r>
              <a:rPr lang="en-US" sz="1800" i="1" dirty="0">
                <a:solidFill>
                  <a:srgbClr val="8DB06B"/>
                </a:solidFill>
                <a:latin typeface="Cambria" pitchFamily="34" charset="0"/>
                <a:ea typeface="Cambria" pitchFamily="34" charset="-122"/>
                <a:cs typeface="Cambria" pitchFamily="34" charset="-120"/>
              </a:rPr>
              <a:t>Colorado Wilderness Expedition</a:t>
            </a:r>
            <a:endParaRPr lang="en-US" sz="1800" dirty="0"/>
          </a:p>
        </p:txBody>
      </p:sp>
      <p:sp>
        <p:nvSpPr>
          <p:cNvPr id="6" name="Text 4"/>
          <p:cNvSpPr txBox="1"/>
          <p:nvPr/>
        </p:nvSpPr>
        <p:spPr>
          <a:xfrm>
            <a:off x="457200" y="3017520"/>
            <a:ext cx="4480560" cy="822960"/>
          </a:xfrm>
          <a:prstGeom prst="rect">
            <a:avLst/>
          </a:prstGeom>
          <a:noFill/>
          <a:ln/>
        </p:spPr>
        <p:txBody>
          <a:bodyPr wrap="square" lIns="0" tIns="0" rIns="0" bIns="0" rtlCol="0" anchor="ctr"/>
          <a:lstStyle/>
          <a:p>
            <a:pPr rtl="1" algn="r" indent="0" marL="0">
              <a:buNone/>
            </a:pPr>
            <a:r>
              <a:rPr lang="en-US" sz="1400" dirty="0">
                <a:solidFill>
                  <a:srgbClr val="C9D6CE"/>
                </a:solidFill>
                <a:latin typeface="Calibri" pitchFamily="34" charset="0"/>
                <a:ea typeface="Calibri" pitchFamily="34" charset="-122"/>
                <a:cs typeface="Calibri" pitchFamily="34" charset="-120"/>
              </a:rPr>
              <a:t>מדריך טבע, גאוגרפיה ותכנון לשלושה אזורים:</a:t>
            </a:r>
            <a:endParaRPr lang="en-US" sz="1400" dirty="0"/>
          </a:p>
          <a:p>
            <a:pPr rtl="1" algn="r" indent="0" marL="0">
              <a:buNone/>
            </a:pPr>
            <a:r>
              <a:rPr lang="en-US" sz="1400" dirty="0">
                <a:solidFill>
                  <a:srgbClr val="C9D6CE"/>
                </a:solidFill>
                <a:latin typeface="Calibri" pitchFamily="34" charset="0"/>
                <a:ea typeface="Calibri" pitchFamily="34" charset="-122"/>
                <a:cs typeface="Calibri" pitchFamily="34" charset="-120"/>
              </a:rPr>
              <a:t>Colorado Springs · San Juan Mountains · Rocky Mountain National Park</a:t>
            </a:r>
            <a:endParaRPr lang="en-US" sz="1400" dirty="0"/>
          </a:p>
        </p:txBody>
      </p:sp>
      <p:sp>
        <p:nvSpPr>
          <p:cNvPr id="7" name="Text 5"/>
          <p:cNvSpPr txBox="1"/>
          <p:nvPr/>
        </p:nvSpPr>
        <p:spPr>
          <a:xfrm>
            <a:off x="457200" y="4206240"/>
            <a:ext cx="4480560" cy="365760"/>
          </a:xfrm>
          <a:prstGeom prst="rect">
            <a:avLst/>
          </a:prstGeom>
          <a:noFill/>
          <a:ln/>
        </p:spPr>
        <p:txBody>
          <a:bodyPr wrap="square" lIns="0" tIns="0" rIns="0" bIns="0" rtlCol="0" anchor="ctr"/>
          <a:lstStyle/>
          <a:p>
            <a:pPr rtl="1" algn="r" indent="0" marL="0">
              <a:buNone/>
            </a:pPr>
            <a:r>
              <a:rPr lang="en-US" sz="1300" b="1" dirty="0">
                <a:solidFill>
                  <a:srgbClr val="FFFFFF"/>
                </a:solidFill>
                <a:latin typeface="Calibri" pitchFamily="34" charset="0"/>
                <a:ea typeface="Calibri" pitchFamily="34" charset="-122"/>
                <a:cs typeface="Calibri" pitchFamily="34" charset="-120"/>
              </a:rPr>
              <a:t>אוגוסט · 14–18 ימים כולל מעברים</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איך לקרוא את המצגת</a:t>
            </a:r>
            <a:endParaRPr lang="en-US" sz="3200" dirty="0"/>
          </a:p>
        </p:txBody>
      </p:sp>
      <p:sp>
        <p:nvSpPr>
          <p:cNvPr id="3" name="Shape 1"/>
          <p:cNvSpPr/>
          <p:nvPr/>
        </p:nvSpPr>
        <p:spPr>
          <a:xfrm>
            <a:off x="457200" y="1188720"/>
            <a:ext cx="2606040" cy="2011680"/>
          </a:xfrm>
          <a:prstGeom prst="roundRect">
            <a:avLst>
              <a:gd name="adj" fmla="val 3636"/>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600" b="1" dirty="0">
                <a:solidFill>
                  <a:srgbClr val="2F5D46"/>
                </a:solidFill>
                <a:latin typeface="Cambria" pitchFamily="34" charset="0"/>
                <a:ea typeface="Cambria" pitchFamily="34" charset="-122"/>
                <a:cs typeface="Cambria" pitchFamily="34" charset="-120"/>
              </a:rPr>
              <a:t>[מאומת]</a:t>
            </a:r>
            <a:endParaRPr lang="en-US" sz="1600" dirty="0"/>
          </a:p>
        </p:txBody>
      </p:sp>
      <p:sp>
        <p:nvSpPr>
          <p:cNvPr id="5" name="Text 3"/>
          <p:cNvSpPr txBox="1"/>
          <p:nvPr/>
        </p:nvSpPr>
        <p:spPr>
          <a:xfrm>
            <a:off x="621792" y="1737360"/>
            <a:ext cx="2276856" cy="135331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הנתון נבדק מול מקור רשמי או מקור שטח מוכר: NPS, USDA Forest Service, Colorado Parks and Wildlife ואתרי רשויות.</a:t>
            </a:r>
            <a:endParaRPr lang="en-US" sz="1250" dirty="0"/>
          </a:p>
        </p:txBody>
      </p:sp>
      <p:sp>
        <p:nvSpPr>
          <p:cNvPr id="6" name="Shape 4"/>
          <p:cNvSpPr/>
          <p:nvPr/>
        </p:nvSpPr>
        <p:spPr>
          <a:xfrm>
            <a:off x="3268980" y="1188720"/>
            <a:ext cx="2606040" cy="2011680"/>
          </a:xfrm>
          <a:prstGeom prst="roundRect">
            <a:avLst>
              <a:gd name="adj" fmla="val 3636"/>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600" b="1" dirty="0">
                <a:solidFill>
                  <a:srgbClr val="2C7A9B"/>
                </a:solidFill>
                <a:latin typeface="Cambria" pitchFamily="34" charset="0"/>
                <a:ea typeface="Cambria" pitchFamily="34" charset="-122"/>
                <a:cs typeface="Cambria" pitchFamily="34" charset="-120"/>
              </a:rPr>
              <a:t>[טווח]</a:t>
            </a:r>
            <a:endParaRPr lang="en-US" sz="1600" dirty="0"/>
          </a:p>
        </p:txBody>
      </p:sp>
      <p:sp>
        <p:nvSpPr>
          <p:cNvPr id="8" name="Text 6"/>
          <p:cNvSpPr txBox="1"/>
          <p:nvPr/>
        </p:nvSpPr>
        <p:spPr>
          <a:xfrm>
            <a:off x="3433572" y="1737360"/>
            <a:ext cx="2276856" cy="135331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מקורות שונים נותנים ערכים שונים (למשל מרחק או הפרש גובה). המצגת מציגה את הטווח ואינה בוחרת ערך אחד.</a:t>
            </a:r>
            <a:endParaRPr lang="en-US" sz="1250" dirty="0"/>
          </a:p>
        </p:txBody>
      </p:sp>
      <p:sp>
        <p:nvSpPr>
          <p:cNvPr id="9" name="Shape 7"/>
          <p:cNvSpPr/>
          <p:nvPr/>
        </p:nvSpPr>
        <p:spPr>
          <a:xfrm>
            <a:off x="6080760" y="1188720"/>
            <a:ext cx="2606040" cy="2011680"/>
          </a:xfrm>
          <a:prstGeom prst="roundRect">
            <a:avLst>
              <a:gd name="adj" fmla="val 3636"/>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600" b="1" dirty="0">
                <a:solidFill>
                  <a:srgbClr val="B5651D"/>
                </a:solidFill>
                <a:latin typeface="Cambria" pitchFamily="34" charset="0"/>
                <a:ea typeface="Cambria" pitchFamily="34" charset="-122"/>
                <a:cs typeface="Cambria" pitchFamily="34" charset="-120"/>
              </a:rPr>
              <a:t>[לאימות]</a:t>
            </a:r>
            <a:endParaRPr lang="en-US" sz="1600" dirty="0"/>
          </a:p>
        </p:txBody>
      </p:sp>
      <p:sp>
        <p:nvSpPr>
          <p:cNvPr id="11" name="Text 9"/>
          <p:cNvSpPr txBox="1"/>
          <p:nvPr/>
        </p:nvSpPr>
        <p:spPr>
          <a:xfrm>
            <a:off x="6245352" y="1737360"/>
            <a:ext cx="2276856" cy="135331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לא נבדק במחקר זה. לפני הזמנה או יציאה לשטח יש לוודא את הנתון במקור הרשמי.</a:t>
            </a:r>
            <a:endParaRPr lang="en-US" sz="1250" dirty="0"/>
          </a:p>
        </p:txBody>
      </p:sp>
      <p:sp>
        <p:nvSpPr>
          <p:cNvPr id="12" name="Text 10"/>
          <p:cNvSpPr txBox="1"/>
          <p:nvPr/>
        </p:nvSpPr>
        <p:spPr>
          <a:xfrm>
            <a:off x="457200" y="3474720"/>
            <a:ext cx="8229600" cy="1005840"/>
          </a:xfrm>
          <a:prstGeom prst="rect">
            <a:avLst/>
          </a:prstGeom>
          <a:noFill/>
          <a:ln/>
        </p:spPr>
        <p:txBody>
          <a:bodyPr wrap="square" lIns="0" tIns="0" rIns="0" bIns="0" rtlCol="0" anchor="t"/>
          <a:lstStyle/>
          <a:p>
            <a:pPr rtl="1" algn="r" indent="0" marL="0">
              <a:buNone/>
            </a:pPr>
            <a:r>
              <a:rPr lang="en-US" sz="1400" dirty="0">
                <a:solidFill>
                  <a:srgbClr val="1E2421"/>
                </a:solidFill>
                <a:latin typeface="Calibri" pitchFamily="34" charset="0"/>
                <a:ea typeface="Calibri" pitchFamily="34" charset="-122"/>
                <a:cs typeface="Calibri" pitchFamily="34" charset="-120"/>
              </a:rPr>
              <a:t>חשוב: הנתונים הונחו לעונת 2026 (למשל כללי Timed Entry של RMNP ותעריפי Pikes Peak). הטיול מתוכנן לאוגוסט של שנה עתידית, ולכן כללי כניסה, סגירות שבילים ותנאי כביש עלולים להשתנות. התחזית המעודכנת ותנאי השטח נבדקים רק קרוב לתאריך היציאה.</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תוכן העניינים</a:t>
            </a:r>
            <a:endParaRPr lang="en-US" sz="3200" dirty="0"/>
          </a:p>
        </p:txBody>
      </p:sp>
      <p:sp>
        <p:nvSpPr>
          <p:cNvPr id="3" name="Text 1"/>
          <p:cNvSpPr txBox="1"/>
          <p:nvPr/>
        </p:nvSpPr>
        <p:spPr>
          <a:xfrm>
            <a:off x="7589520" y="118872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01</a:t>
            </a:r>
            <a:endParaRPr lang="en-US" sz="2200" dirty="0"/>
          </a:p>
        </p:txBody>
      </p:sp>
      <p:sp>
        <p:nvSpPr>
          <p:cNvPr id="4" name="Text 2"/>
          <p:cNvSpPr txBox="1"/>
          <p:nvPr/>
        </p:nvSpPr>
        <p:spPr>
          <a:xfrm>
            <a:off x="457200" y="118872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היכרות עם קולורדו: גאוגרפיה, אקלים ומערכות אקולוגיות</a:t>
            </a:r>
            <a:endParaRPr lang="en-US" sz="1600" dirty="0"/>
          </a:p>
        </p:txBody>
      </p:sp>
      <p:sp>
        <p:nvSpPr>
          <p:cNvPr id="5" name="Text 3"/>
          <p:cNvSpPr txBox="1"/>
          <p:nvPr/>
        </p:nvSpPr>
        <p:spPr>
          <a:xfrm>
            <a:off x="7589520" y="173736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02</a:t>
            </a:r>
            <a:endParaRPr lang="en-US" sz="2200" dirty="0"/>
          </a:p>
        </p:txBody>
      </p:sp>
      <p:sp>
        <p:nvSpPr>
          <p:cNvPr id="6" name="Text 4"/>
          <p:cNvSpPr txBox="1"/>
          <p:nvPr/>
        </p:nvSpPr>
        <p:spPr>
          <a:xfrm>
            <a:off x="457200" y="173736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Colorado Springs · Pikes Peak · תוכנית 4 ימים</a:t>
            </a:r>
            <a:endParaRPr lang="en-US" sz="1600" dirty="0"/>
          </a:p>
        </p:txBody>
      </p:sp>
      <p:sp>
        <p:nvSpPr>
          <p:cNvPr id="7" name="Text 5"/>
          <p:cNvSpPr txBox="1"/>
          <p:nvPr/>
        </p:nvSpPr>
        <p:spPr>
          <a:xfrm>
            <a:off x="7589520" y="228600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03</a:t>
            </a:r>
            <a:endParaRPr lang="en-US" sz="2200" dirty="0"/>
          </a:p>
        </p:txBody>
      </p:sp>
      <p:sp>
        <p:nvSpPr>
          <p:cNvPr id="8" name="Text 6"/>
          <p:cNvSpPr txBox="1"/>
          <p:nvPr/>
        </p:nvSpPr>
        <p:spPr>
          <a:xfrm>
            <a:off x="457200" y="228600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San Juan Mountains · תוכנית 5 ימים</a:t>
            </a:r>
            <a:endParaRPr lang="en-US" sz="1600" dirty="0"/>
          </a:p>
        </p:txBody>
      </p:sp>
      <p:sp>
        <p:nvSpPr>
          <p:cNvPr id="9" name="Text 7"/>
          <p:cNvSpPr txBox="1"/>
          <p:nvPr/>
        </p:nvSpPr>
        <p:spPr>
          <a:xfrm>
            <a:off x="7589520" y="283464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04</a:t>
            </a:r>
            <a:endParaRPr lang="en-US" sz="2200" dirty="0"/>
          </a:p>
        </p:txBody>
      </p:sp>
      <p:sp>
        <p:nvSpPr>
          <p:cNvPr id="10" name="Text 8"/>
          <p:cNvSpPr txBox="1"/>
          <p:nvPr/>
        </p:nvSpPr>
        <p:spPr>
          <a:xfrm>
            <a:off x="457200" y="283464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Rocky Mountain National Park · תוכנית 5–6 ימים</a:t>
            </a:r>
            <a:endParaRPr lang="en-US" sz="1600" dirty="0"/>
          </a:p>
        </p:txBody>
      </p:sp>
      <p:sp>
        <p:nvSpPr>
          <p:cNvPr id="11" name="Text 9"/>
          <p:cNvSpPr txBox="1"/>
          <p:nvPr/>
        </p:nvSpPr>
        <p:spPr>
          <a:xfrm>
            <a:off x="7589520" y="338328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05</a:t>
            </a:r>
            <a:endParaRPr lang="en-US" sz="2200" dirty="0"/>
          </a:p>
        </p:txBody>
      </p:sp>
      <p:sp>
        <p:nvSpPr>
          <p:cNvPr id="12" name="Text 10"/>
          <p:cNvSpPr txBox="1"/>
          <p:nvPr/>
        </p:nvSpPr>
        <p:spPr>
          <a:xfrm>
            <a:off x="457200" y="338328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השוואה בין שלושת האזורים</a:t>
            </a:r>
            <a:endParaRPr lang="en-US" sz="1600" dirty="0"/>
          </a:p>
        </p:txBody>
      </p:sp>
      <p:sp>
        <p:nvSpPr>
          <p:cNvPr id="13" name="Text 11"/>
          <p:cNvSpPr txBox="1"/>
          <p:nvPr/>
        </p:nvSpPr>
        <p:spPr>
          <a:xfrm>
            <a:off x="7589520" y="3931920"/>
            <a:ext cx="1097280" cy="411480"/>
          </a:xfrm>
          <a:prstGeom prst="rect">
            <a:avLst/>
          </a:prstGeom>
          <a:noFill/>
          <a:ln/>
        </p:spPr>
        <p:txBody>
          <a:bodyPr wrap="square" lIns="0" tIns="0" rIns="0" bIns="0" rtlCol="0" anchor="ctr"/>
          <a:lstStyle/>
          <a:p>
            <a:pPr algn="r" indent="0" marL="0">
              <a:buNone/>
            </a:pPr>
            <a:r>
              <a:rPr lang="en-US" sz="2200" b="1" dirty="0">
                <a:solidFill>
                  <a:srgbClr val="8DB06B"/>
                </a:solidFill>
                <a:latin typeface="Cambria" pitchFamily="34" charset="0"/>
                <a:ea typeface="Cambria" pitchFamily="34" charset="-122"/>
                <a:cs typeface="Cambria" pitchFamily="34" charset="-120"/>
              </a:rPr>
              <a:t>06</a:t>
            </a:r>
            <a:endParaRPr lang="en-US" sz="2200" dirty="0"/>
          </a:p>
        </p:txBody>
      </p:sp>
      <p:sp>
        <p:nvSpPr>
          <p:cNvPr id="14" name="Text 12"/>
          <p:cNvSpPr txBox="1"/>
          <p:nvPr/>
        </p:nvSpPr>
        <p:spPr>
          <a:xfrm>
            <a:off x="457200" y="3931920"/>
            <a:ext cx="6949440" cy="411480"/>
          </a:xfrm>
          <a:prstGeom prst="rect">
            <a:avLst/>
          </a:prstGeom>
          <a:noFill/>
          <a:ln/>
        </p:spPr>
        <p:txBody>
          <a:bodyPr wrap="square" lIns="0" tIns="0" rIns="0" bIns="0" rtlCol="0" anchor="ctr"/>
          <a:lstStyle/>
          <a:p>
            <a:pPr rtl="1" algn="r" indent="0" marL="0">
              <a:buNone/>
            </a:pPr>
            <a:r>
              <a:rPr lang="en-US" sz="1600" dirty="0">
                <a:solidFill>
                  <a:srgbClr val="1E2421"/>
                </a:solidFill>
                <a:latin typeface="Calibri" pitchFamily="34" charset="0"/>
                <a:ea typeface="Calibri" pitchFamily="34" charset="-122"/>
                <a:cs typeface="Calibri" pitchFamily="34" charset="-120"/>
              </a:rPr>
              <a:t>סיכום, מפת הביקור, בטיחות והכנה לטיול</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E26"/>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1188720"/>
          </a:xfrm>
          <a:prstGeom prst="rect">
            <a:avLst/>
          </a:prstGeom>
          <a:noFill/>
          <a:ln/>
        </p:spPr>
        <p:txBody>
          <a:bodyPr wrap="square" lIns="0" tIns="0" rIns="0" bIns="0" rtlCol="0" anchor="ctr"/>
          <a:lstStyle/>
          <a:p>
            <a:pPr algn="r" indent="0" marL="0">
              <a:buNone/>
            </a:pPr>
            <a:r>
              <a:rPr lang="en-US" sz="8000" b="1" dirty="0">
                <a:solidFill>
                  <a:srgbClr val="8DB06B"/>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457200" y="2377440"/>
            <a:ext cx="8229600" cy="822960"/>
          </a:xfrm>
          <a:prstGeom prst="rect">
            <a:avLst/>
          </a:prstGeom>
          <a:noFill/>
          <a:ln/>
        </p:spPr>
        <p:txBody>
          <a:bodyPr wrap="square" lIns="0" tIns="0" rIns="0" bIns="0" rtlCol="0" anchor="ctr"/>
          <a:lstStyle/>
          <a:p>
            <a:pPr rtl="1" algn="r" indent="0" marL="0">
              <a:buNone/>
            </a:pPr>
            <a:r>
              <a:rPr lang="en-US" sz="4000" b="1" dirty="0">
                <a:solidFill>
                  <a:srgbClr val="FFFFFF"/>
                </a:solidFill>
                <a:latin typeface="Cambria" pitchFamily="34" charset="0"/>
                <a:ea typeface="Cambria" pitchFamily="34" charset="-122"/>
                <a:cs typeface="Cambria" pitchFamily="34" charset="-120"/>
              </a:rPr>
              <a:t>היכרות עם קולורדו</a:t>
            </a:r>
            <a:endParaRPr lang="en-US" sz="4000" dirty="0"/>
          </a:p>
        </p:txBody>
      </p:sp>
      <p:sp>
        <p:nvSpPr>
          <p:cNvPr id="4" name="Text 2"/>
          <p:cNvSpPr txBox="1"/>
          <p:nvPr/>
        </p:nvSpPr>
        <p:spPr>
          <a:xfrm>
            <a:off x="457200" y="3291840"/>
            <a:ext cx="8229600" cy="548640"/>
          </a:xfrm>
          <a:prstGeom prst="rect">
            <a:avLst/>
          </a:prstGeom>
          <a:noFill/>
          <a:ln/>
        </p:spPr>
        <p:txBody>
          <a:bodyPr wrap="square" lIns="0" tIns="0" rIns="0" bIns="0" rtlCol="0" anchor="ctr"/>
          <a:lstStyle/>
          <a:p>
            <a:pPr rtl="1" algn="r" indent="0" marL="0">
              <a:buNone/>
            </a:pPr>
            <a:r>
              <a:rPr lang="en-US" sz="1800" dirty="0">
                <a:solidFill>
                  <a:srgbClr val="C9D6CE"/>
                </a:solidFill>
                <a:latin typeface="Calibri" pitchFamily="34" charset="0"/>
                <a:ea typeface="Calibri" pitchFamily="34" charset="-122"/>
                <a:cs typeface="Calibri" pitchFamily="34" charset="-120"/>
              </a:rPr>
              <a:t>גאוגרפיה, גובה ומערכות אקולוגיות</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קולורדו ושלושת האזורים</a:t>
            </a:r>
            <a:endParaRPr lang="en-US" sz="3200" dirty="0"/>
          </a:p>
        </p:txBody>
      </p:sp>
      <p:sp>
        <p:nvSpPr>
          <p:cNvPr id="3" name="Shape 1"/>
          <p:cNvSpPr/>
          <p:nvPr/>
        </p:nvSpPr>
        <p:spPr>
          <a:xfrm>
            <a:off x="548640" y="1234440"/>
            <a:ext cx="4754880" cy="3200400"/>
          </a:xfrm>
          <a:prstGeom prst="rect">
            <a:avLst/>
          </a:prstGeom>
          <a:solidFill>
            <a:srgbClr val="E6ECE4"/>
          </a:solidFill>
          <a:ln w="12700">
            <a:solidFill>
              <a:srgbClr val="8A958E"/>
            </a:solidFill>
            <a:prstDash val="solid"/>
          </a:ln>
        </p:spPr>
      </p:sp>
      <p:sp>
        <p:nvSpPr>
          <p:cNvPr id="4" name="Text 2"/>
          <p:cNvSpPr txBox="1"/>
          <p:nvPr/>
        </p:nvSpPr>
        <p:spPr>
          <a:xfrm>
            <a:off x="640080" y="4114800"/>
            <a:ext cx="2194560" cy="256032"/>
          </a:xfrm>
          <a:prstGeom prst="rect">
            <a:avLst/>
          </a:prstGeom>
          <a:noFill/>
          <a:ln/>
        </p:spPr>
        <p:txBody>
          <a:bodyPr wrap="square" lIns="0" tIns="0" rIns="0" bIns="0" rtlCol="0" anchor="ctr"/>
          <a:lstStyle/>
          <a:p>
            <a:pPr rtl="1" algn="l" indent="0" marL="0">
              <a:buNone/>
            </a:pPr>
            <a:r>
              <a:rPr lang="en-US" sz="1000" i="1" dirty="0">
                <a:solidFill>
                  <a:srgbClr val="5A625E"/>
                </a:solidFill>
                <a:latin typeface="Calibri" pitchFamily="34" charset="0"/>
                <a:ea typeface="Calibri" pitchFamily="34" charset="-122"/>
                <a:cs typeface="Calibri" pitchFamily="34" charset="-120"/>
              </a:rPr>
              <a:t>קולורדו (מתאר סכמטי)</a:t>
            </a:r>
            <a:endParaRPr lang="en-US" sz="1000" dirty="0"/>
          </a:p>
        </p:txBody>
      </p:sp>
      <p:sp>
        <p:nvSpPr>
          <p:cNvPr id="5" name="Shape 3"/>
          <p:cNvSpPr/>
          <p:nvPr/>
        </p:nvSpPr>
        <p:spPr>
          <a:xfrm>
            <a:off x="3335551" y="2888361"/>
            <a:ext cx="164592" cy="164592"/>
          </a:xfrm>
          <a:prstGeom prst="ellipse">
            <a:avLst/>
          </a:prstGeom>
          <a:solidFill>
            <a:srgbClr val="B5651D"/>
          </a:solidFill>
          <a:ln w="12700">
            <a:solidFill>
              <a:srgbClr val="FFFFFF"/>
            </a:solidFill>
            <a:prstDash val="solid"/>
          </a:ln>
        </p:spPr>
      </p:sp>
      <p:sp>
        <p:nvSpPr>
          <p:cNvPr id="6" name="Shape 4"/>
          <p:cNvSpPr/>
          <p:nvPr/>
        </p:nvSpPr>
        <p:spPr>
          <a:xfrm>
            <a:off x="1384109" y="3574161"/>
            <a:ext cx="201168" cy="201168"/>
          </a:xfrm>
          <a:prstGeom prst="ellipse">
            <a:avLst/>
          </a:prstGeom>
          <a:solidFill>
            <a:srgbClr val="2C7A9B"/>
          </a:solidFill>
          <a:ln w="12700">
            <a:solidFill>
              <a:srgbClr val="FFFFFF"/>
            </a:solidFill>
            <a:prstDash val="solid"/>
          </a:ln>
        </p:spPr>
      </p:sp>
      <p:sp>
        <p:nvSpPr>
          <p:cNvPr id="7" name="Shape 5"/>
          <p:cNvSpPr/>
          <p:nvPr/>
        </p:nvSpPr>
        <p:spPr>
          <a:xfrm>
            <a:off x="2806478" y="1688211"/>
            <a:ext cx="164592" cy="164592"/>
          </a:xfrm>
          <a:prstGeom prst="ellipse">
            <a:avLst/>
          </a:prstGeom>
          <a:solidFill>
            <a:srgbClr val="2F5D46"/>
          </a:solidFill>
          <a:ln w="12700">
            <a:solidFill>
              <a:srgbClr val="FFFFFF"/>
            </a:solidFill>
            <a:prstDash val="solid"/>
          </a:ln>
        </p:spPr>
      </p:sp>
      <p:sp>
        <p:nvSpPr>
          <p:cNvPr id="8" name="Text 6"/>
          <p:cNvSpPr txBox="1"/>
          <p:nvPr/>
        </p:nvSpPr>
        <p:spPr>
          <a:xfrm>
            <a:off x="3527575" y="2842641"/>
            <a:ext cx="1463040" cy="256032"/>
          </a:xfrm>
          <a:prstGeom prst="rect">
            <a:avLst/>
          </a:prstGeom>
          <a:noFill/>
          <a:ln/>
        </p:spPr>
        <p:txBody>
          <a:bodyPr wrap="square" lIns="0" tIns="0" rIns="0" bIns="0" rtlCol="0" anchor="ctr"/>
          <a:lstStyle/>
          <a:p>
            <a:pPr indent="0" marL="0">
              <a:buNone/>
            </a:pPr>
            <a:r>
              <a:rPr lang="en-US" sz="1100" b="1" dirty="0">
                <a:solidFill>
                  <a:srgbClr val="1E2421"/>
                </a:solidFill>
                <a:latin typeface="Calibri" pitchFamily="34" charset="0"/>
                <a:ea typeface="Calibri" pitchFamily="34" charset="-122"/>
                <a:cs typeface="Calibri" pitchFamily="34" charset="-120"/>
              </a:rPr>
              <a:t>Colorado Springs</a:t>
            </a:r>
            <a:endParaRPr lang="en-US" sz="1100" dirty="0"/>
          </a:p>
        </p:txBody>
      </p:sp>
      <p:sp>
        <p:nvSpPr>
          <p:cNvPr id="9" name="Text 7"/>
          <p:cNvSpPr txBox="1"/>
          <p:nvPr/>
        </p:nvSpPr>
        <p:spPr>
          <a:xfrm>
            <a:off x="1301813" y="3766185"/>
            <a:ext cx="2103120" cy="256032"/>
          </a:xfrm>
          <a:prstGeom prst="rect">
            <a:avLst/>
          </a:prstGeom>
          <a:noFill/>
          <a:ln/>
        </p:spPr>
        <p:txBody>
          <a:bodyPr wrap="square" lIns="0" tIns="0" rIns="0" bIns="0" rtlCol="0" anchor="ctr"/>
          <a:lstStyle/>
          <a:p>
            <a:pPr indent="0" marL="0">
              <a:buNone/>
            </a:pPr>
            <a:r>
              <a:rPr lang="en-US" sz="1100" b="1" dirty="0">
                <a:solidFill>
                  <a:srgbClr val="1E2421"/>
                </a:solidFill>
                <a:latin typeface="Calibri" pitchFamily="34" charset="0"/>
                <a:ea typeface="Calibri" pitchFamily="34" charset="-122"/>
                <a:cs typeface="Calibri" pitchFamily="34" charset="-120"/>
              </a:rPr>
              <a:t>Ouray · Silverton · Telluride</a:t>
            </a:r>
            <a:endParaRPr lang="en-US" sz="1100" dirty="0"/>
          </a:p>
        </p:txBody>
      </p:sp>
      <p:sp>
        <p:nvSpPr>
          <p:cNvPr id="10" name="Text 8"/>
          <p:cNvSpPr txBox="1"/>
          <p:nvPr/>
        </p:nvSpPr>
        <p:spPr>
          <a:xfrm>
            <a:off x="1471454" y="1642491"/>
            <a:ext cx="1280160" cy="256032"/>
          </a:xfrm>
          <a:prstGeom prst="rect">
            <a:avLst/>
          </a:prstGeom>
          <a:noFill/>
          <a:ln/>
        </p:spPr>
        <p:txBody>
          <a:bodyPr wrap="square" lIns="0" tIns="0" rIns="0" bIns="0" rtlCol="0" anchor="ctr"/>
          <a:lstStyle/>
          <a:p>
            <a:pPr algn="r" indent="0" marL="0">
              <a:buNone/>
            </a:pPr>
            <a:r>
              <a:rPr lang="en-US" sz="1100" b="1" dirty="0">
                <a:solidFill>
                  <a:srgbClr val="1E2421"/>
                </a:solidFill>
                <a:latin typeface="Calibri" pitchFamily="34" charset="0"/>
                <a:ea typeface="Calibri" pitchFamily="34" charset="-122"/>
                <a:cs typeface="Calibri" pitchFamily="34" charset="-120"/>
              </a:rPr>
              <a:t>Rocky Mountain NP</a:t>
            </a:r>
            <a:endParaRPr lang="en-US" sz="1100" dirty="0"/>
          </a:p>
        </p:txBody>
      </p:sp>
      <p:sp>
        <p:nvSpPr>
          <p:cNvPr id="11" name="Shape 9"/>
          <p:cNvSpPr/>
          <p:nvPr/>
        </p:nvSpPr>
        <p:spPr>
          <a:xfrm>
            <a:off x="6007608" y="1417320"/>
            <a:ext cx="182880" cy="182880"/>
          </a:xfrm>
          <a:prstGeom prst="ellipse">
            <a:avLst/>
          </a:prstGeom>
          <a:solidFill>
            <a:srgbClr val="B5651D"/>
          </a:solidFill>
          <a:ln w="12700">
            <a:solidFill>
              <a:srgbClr val="FFFFFF"/>
            </a:solidFill>
            <a:prstDash val="solid"/>
          </a:ln>
        </p:spPr>
      </p:sp>
      <p:sp>
        <p:nvSpPr>
          <p:cNvPr id="12" name="Text 10"/>
          <p:cNvSpPr txBox="1"/>
          <p:nvPr/>
        </p:nvSpPr>
        <p:spPr>
          <a:xfrm>
            <a:off x="6309360" y="1371600"/>
            <a:ext cx="2194560" cy="502920"/>
          </a:xfrm>
          <a:prstGeom prst="rect">
            <a:avLst/>
          </a:prstGeom>
          <a:noFill/>
          <a:ln/>
        </p:spPr>
        <p:txBody>
          <a:bodyPr wrap="square" lIns="0" tIns="0" rIns="0" bIns="0" rtlCol="0" anchor="t"/>
          <a:lstStyle/>
          <a:p>
            <a:pPr algn="r" indent="0" marL="0">
              <a:buNone/>
            </a:pPr>
            <a:r>
              <a:rPr lang="en-US" sz="1400" b="1" dirty="0">
                <a:solidFill>
                  <a:srgbClr val="1E2421"/>
                </a:solidFill>
                <a:latin typeface="Calibri" pitchFamily="34" charset="0"/>
                <a:ea typeface="Calibri" pitchFamily="34" charset="-122"/>
                <a:cs typeface="Calibri" pitchFamily="34" charset="-120"/>
              </a:rPr>
              <a:t>Colorado Springs</a:t>
            </a:r>
            <a:endParaRPr lang="en-US" sz="1400" dirty="0"/>
          </a:p>
          <a:p>
            <a:pPr algn="r" indent="0" marL="0">
              <a:buNone/>
            </a:pPr>
            <a:r>
              <a:rPr lang="en-US" sz="1200" dirty="0">
                <a:solidFill>
                  <a:srgbClr val="5A625E"/>
                </a:solidFill>
                <a:latin typeface="Calibri" pitchFamily="34" charset="0"/>
                <a:ea typeface="Calibri" pitchFamily="34" charset="-122"/>
                <a:cs typeface="Calibri" pitchFamily="34" charset="-120"/>
              </a:rPr>
              <a:t>4 ימים</a:t>
            </a:r>
            <a:endParaRPr lang="en-US" sz="1400" dirty="0"/>
          </a:p>
        </p:txBody>
      </p:sp>
      <p:sp>
        <p:nvSpPr>
          <p:cNvPr id="13" name="Shape 11"/>
          <p:cNvSpPr/>
          <p:nvPr/>
        </p:nvSpPr>
        <p:spPr>
          <a:xfrm>
            <a:off x="6007608" y="1965960"/>
            <a:ext cx="182880" cy="182880"/>
          </a:xfrm>
          <a:prstGeom prst="ellipse">
            <a:avLst/>
          </a:prstGeom>
          <a:solidFill>
            <a:srgbClr val="2C7A9B"/>
          </a:solidFill>
          <a:ln w="12700">
            <a:solidFill>
              <a:srgbClr val="FFFFFF"/>
            </a:solidFill>
            <a:prstDash val="solid"/>
          </a:ln>
        </p:spPr>
      </p:sp>
      <p:sp>
        <p:nvSpPr>
          <p:cNvPr id="14" name="Text 12"/>
          <p:cNvSpPr txBox="1"/>
          <p:nvPr/>
        </p:nvSpPr>
        <p:spPr>
          <a:xfrm>
            <a:off x="6309360" y="1920240"/>
            <a:ext cx="2194560" cy="502920"/>
          </a:xfrm>
          <a:prstGeom prst="rect">
            <a:avLst/>
          </a:prstGeom>
          <a:noFill/>
          <a:ln/>
        </p:spPr>
        <p:txBody>
          <a:bodyPr wrap="square" lIns="0" tIns="0" rIns="0" bIns="0" rtlCol="0" anchor="t"/>
          <a:lstStyle/>
          <a:p>
            <a:pPr algn="r" indent="0" marL="0">
              <a:buNone/>
            </a:pPr>
            <a:r>
              <a:rPr lang="en-US" sz="1400" b="1" dirty="0">
                <a:solidFill>
                  <a:srgbClr val="1E2421"/>
                </a:solidFill>
                <a:latin typeface="Calibri" pitchFamily="34" charset="0"/>
                <a:ea typeface="Calibri" pitchFamily="34" charset="-122"/>
                <a:cs typeface="Calibri" pitchFamily="34" charset="-120"/>
              </a:rPr>
              <a:t>San Juan Mountains</a:t>
            </a:r>
            <a:endParaRPr lang="en-US" sz="1400" dirty="0"/>
          </a:p>
          <a:p>
            <a:pPr algn="r" indent="0" marL="0">
              <a:buNone/>
            </a:pPr>
            <a:r>
              <a:rPr lang="en-US" sz="1200" dirty="0">
                <a:solidFill>
                  <a:srgbClr val="5A625E"/>
                </a:solidFill>
                <a:latin typeface="Calibri" pitchFamily="34" charset="0"/>
                <a:ea typeface="Calibri" pitchFamily="34" charset="-122"/>
                <a:cs typeface="Calibri" pitchFamily="34" charset="-120"/>
              </a:rPr>
              <a:t>5 ימים</a:t>
            </a:r>
            <a:endParaRPr lang="en-US" sz="1400" dirty="0"/>
          </a:p>
        </p:txBody>
      </p:sp>
      <p:sp>
        <p:nvSpPr>
          <p:cNvPr id="15" name="Shape 13"/>
          <p:cNvSpPr/>
          <p:nvPr/>
        </p:nvSpPr>
        <p:spPr>
          <a:xfrm>
            <a:off x="6007608" y="2514600"/>
            <a:ext cx="182880" cy="182880"/>
          </a:xfrm>
          <a:prstGeom prst="ellipse">
            <a:avLst/>
          </a:prstGeom>
          <a:solidFill>
            <a:srgbClr val="2F5D46"/>
          </a:solidFill>
          <a:ln w="12700">
            <a:solidFill>
              <a:srgbClr val="FFFFFF"/>
            </a:solidFill>
            <a:prstDash val="solid"/>
          </a:ln>
        </p:spPr>
      </p:sp>
      <p:sp>
        <p:nvSpPr>
          <p:cNvPr id="16" name="Text 14"/>
          <p:cNvSpPr txBox="1"/>
          <p:nvPr/>
        </p:nvSpPr>
        <p:spPr>
          <a:xfrm>
            <a:off x="6309360" y="2468880"/>
            <a:ext cx="2194560" cy="502920"/>
          </a:xfrm>
          <a:prstGeom prst="rect">
            <a:avLst/>
          </a:prstGeom>
          <a:noFill/>
          <a:ln/>
        </p:spPr>
        <p:txBody>
          <a:bodyPr wrap="square" lIns="0" tIns="0" rIns="0" bIns="0" rtlCol="0" anchor="t"/>
          <a:lstStyle/>
          <a:p>
            <a:pPr algn="r" indent="0" marL="0">
              <a:buNone/>
            </a:pPr>
            <a:r>
              <a:rPr lang="en-US" sz="1400" b="1" dirty="0">
                <a:solidFill>
                  <a:srgbClr val="1E2421"/>
                </a:solidFill>
                <a:latin typeface="Calibri" pitchFamily="34" charset="0"/>
                <a:ea typeface="Calibri" pitchFamily="34" charset="-122"/>
                <a:cs typeface="Calibri" pitchFamily="34" charset="-120"/>
              </a:rPr>
              <a:t>Rocky Mountain NP</a:t>
            </a:r>
            <a:endParaRPr lang="en-US" sz="1400" dirty="0"/>
          </a:p>
          <a:p>
            <a:pPr algn="r" indent="0" marL="0">
              <a:buNone/>
            </a:pPr>
            <a:r>
              <a:rPr lang="en-US" sz="1200" dirty="0">
                <a:solidFill>
                  <a:srgbClr val="5A625E"/>
                </a:solidFill>
                <a:latin typeface="Calibri" pitchFamily="34" charset="0"/>
                <a:ea typeface="Calibri" pitchFamily="34" charset="-122"/>
                <a:cs typeface="Calibri" pitchFamily="34" charset="-120"/>
              </a:rPr>
              <a:t>5–6 ימים</a:t>
            </a:r>
            <a:endParaRPr lang="en-US" sz="1400" dirty="0"/>
          </a:p>
        </p:txBody>
      </p:sp>
      <p:sp>
        <p:nvSpPr>
          <p:cNvPr id="17" name="Text 15"/>
          <p:cNvSpPr txBox="1"/>
          <p:nvPr/>
        </p:nvSpPr>
        <p:spPr>
          <a:xfrm>
            <a:off x="5989320" y="3200400"/>
            <a:ext cx="2743200" cy="1188720"/>
          </a:xfrm>
          <a:prstGeom prst="rect">
            <a:avLst/>
          </a:prstGeom>
          <a:noFill/>
          <a:ln/>
        </p:spPr>
        <p:txBody>
          <a:bodyPr wrap="square" lIns="0" tIns="0" rIns="0" bIns="0" rtlCol="0" anchor="t"/>
          <a:lstStyle/>
          <a:p>
            <a:pPr rtl="1" algn="r" indent="0" marL="0">
              <a:buNone/>
            </a:pPr>
            <a:r>
              <a:rPr lang="en-US" sz="1100" i="1" dirty="0">
                <a:solidFill>
                  <a:srgbClr val="5A625E"/>
                </a:solidFill>
                <a:latin typeface="Calibri" pitchFamily="34" charset="0"/>
                <a:ea typeface="Calibri" pitchFamily="34" charset="-122"/>
                <a:cs typeface="Calibri" pitchFamily="34" charset="-120"/>
              </a:rPr>
              <a:t>מפה סכמטית, לא בקנה מידה. המיקומים לפי קואורדינטות משוערות של היישובים והפארק. לפני תכנון מסלולים יש להשתמש במפת שטח רשמית.</a:t>
            </a:r>
            <a:endParaRPr lang="en-US" sz="1100" dirty="0"/>
          </a:p>
        </p:txBody>
      </p:sp>
      <p:sp>
        <p:nvSpPr>
          <p:cNvPr id="18" name="Text 16"/>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 לגאוגרפיה: NPS (Rocky Mountain NP), San Juan National Forest. קואורדינטות יישובים: ידע כללי, לא נבדק מול GIS.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הרי הרוקי בקולורדו: מספרים שמגדירים את המדינה</a:t>
            </a:r>
            <a:endParaRPr lang="en-US" sz="3200" dirty="0"/>
          </a:p>
        </p:txBody>
      </p:sp>
      <p:sp>
        <p:nvSpPr>
          <p:cNvPr id="3" name="Shape 1"/>
          <p:cNvSpPr/>
          <p:nvPr/>
        </p:nvSpPr>
        <p:spPr>
          <a:xfrm>
            <a:off x="457200" y="1188720"/>
            <a:ext cx="1920240" cy="1554480"/>
          </a:xfrm>
          <a:prstGeom prst="roundRect">
            <a:avLst>
              <a:gd name="adj" fmla="val 4706"/>
            </a:avLst>
          </a:prstGeom>
          <a:solidFill>
            <a:srgbClr val="EEF2EE"/>
          </a:solidFill>
          <a:ln w="6350">
            <a:solidFill>
              <a:srgbClr val="EEF2EE"/>
            </a:solidFill>
            <a:prstDash val="solid"/>
          </a:ln>
        </p:spPr>
      </p:sp>
      <p:sp>
        <p:nvSpPr>
          <p:cNvPr id="4" name="Text 2"/>
          <p:cNvSpPr txBox="1"/>
          <p:nvPr/>
        </p:nvSpPr>
        <p:spPr>
          <a:xfrm>
            <a:off x="594360" y="1371600"/>
            <a:ext cx="1645920" cy="777240"/>
          </a:xfrm>
          <a:prstGeom prst="rect">
            <a:avLst/>
          </a:prstGeom>
          <a:noFill/>
          <a:ln/>
        </p:spPr>
        <p:txBody>
          <a:bodyPr wrap="square" lIns="0" tIns="0" rIns="0" bIns="0" rtlCol="0" anchor="ctr"/>
          <a:lstStyle/>
          <a:p>
            <a:pPr algn="ctr" indent="0" marL="0">
              <a:buNone/>
            </a:pPr>
            <a:r>
              <a:rPr lang="en-US" sz="3400" b="1" dirty="0">
                <a:solidFill>
                  <a:srgbClr val="2F5D46"/>
                </a:solidFill>
                <a:latin typeface="Cambria" pitchFamily="34" charset="0"/>
                <a:ea typeface="Cambria" pitchFamily="34" charset="-122"/>
                <a:cs typeface="Cambria" pitchFamily="34" charset="-120"/>
              </a:rPr>
              <a:t>14,115</a:t>
            </a:r>
            <a:endParaRPr lang="en-US" sz="3400" dirty="0"/>
          </a:p>
        </p:txBody>
      </p:sp>
      <p:sp>
        <p:nvSpPr>
          <p:cNvPr id="5" name="Text 3"/>
          <p:cNvSpPr txBox="1"/>
          <p:nvPr/>
        </p:nvSpPr>
        <p:spPr>
          <a:xfrm>
            <a:off x="594360" y="2152498"/>
            <a:ext cx="1645920" cy="497434"/>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Pikes Peak, פסגה [מאומת]</a:t>
            </a:r>
            <a:endParaRPr lang="en-US" sz="1200" dirty="0"/>
          </a:p>
        </p:txBody>
      </p:sp>
      <p:sp>
        <p:nvSpPr>
          <p:cNvPr id="6" name="Shape 4"/>
          <p:cNvSpPr/>
          <p:nvPr/>
        </p:nvSpPr>
        <p:spPr>
          <a:xfrm>
            <a:off x="2514600" y="1188720"/>
            <a:ext cx="1920240" cy="1554480"/>
          </a:xfrm>
          <a:prstGeom prst="roundRect">
            <a:avLst>
              <a:gd name="adj" fmla="val 4706"/>
            </a:avLst>
          </a:prstGeom>
          <a:solidFill>
            <a:srgbClr val="EEF2EE"/>
          </a:solidFill>
          <a:ln w="6350">
            <a:solidFill>
              <a:srgbClr val="EEF2EE"/>
            </a:solidFill>
            <a:prstDash val="solid"/>
          </a:ln>
        </p:spPr>
      </p:sp>
      <p:sp>
        <p:nvSpPr>
          <p:cNvPr id="7" name="Text 5"/>
          <p:cNvSpPr txBox="1"/>
          <p:nvPr/>
        </p:nvSpPr>
        <p:spPr>
          <a:xfrm>
            <a:off x="2651760" y="1371600"/>
            <a:ext cx="1645920" cy="777240"/>
          </a:xfrm>
          <a:prstGeom prst="rect">
            <a:avLst/>
          </a:prstGeom>
          <a:noFill/>
          <a:ln/>
        </p:spPr>
        <p:txBody>
          <a:bodyPr wrap="square" lIns="0" tIns="0" rIns="0" bIns="0" rtlCol="0" anchor="ctr"/>
          <a:lstStyle/>
          <a:p>
            <a:pPr algn="ctr" indent="0" marL="0">
              <a:buNone/>
            </a:pPr>
            <a:r>
              <a:rPr lang="en-US" sz="3400" b="1" dirty="0">
                <a:solidFill>
                  <a:srgbClr val="2C7A9B"/>
                </a:solidFill>
                <a:latin typeface="Cambria" pitchFamily="34" charset="0"/>
                <a:ea typeface="Cambria" pitchFamily="34" charset="-122"/>
                <a:cs typeface="Cambria" pitchFamily="34" charset="-120"/>
              </a:rPr>
              <a:t>12,183</a:t>
            </a:r>
            <a:endParaRPr lang="en-US" sz="3400" dirty="0"/>
          </a:p>
        </p:txBody>
      </p:sp>
      <p:sp>
        <p:nvSpPr>
          <p:cNvPr id="8" name="Text 6"/>
          <p:cNvSpPr txBox="1"/>
          <p:nvPr/>
        </p:nvSpPr>
        <p:spPr>
          <a:xfrm>
            <a:off x="2651760" y="2152498"/>
            <a:ext cx="1645920" cy="497434"/>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נקודה גבוהה של Trail Ridge Road [מאומת]</a:t>
            </a:r>
            <a:endParaRPr lang="en-US" sz="1200" dirty="0"/>
          </a:p>
        </p:txBody>
      </p:sp>
      <p:sp>
        <p:nvSpPr>
          <p:cNvPr id="9" name="Shape 7"/>
          <p:cNvSpPr/>
          <p:nvPr/>
        </p:nvSpPr>
        <p:spPr>
          <a:xfrm>
            <a:off x="4572000" y="1188720"/>
            <a:ext cx="1920240" cy="1554480"/>
          </a:xfrm>
          <a:prstGeom prst="roundRect">
            <a:avLst>
              <a:gd name="adj" fmla="val 4706"/>
            </a:avLst>
          </a:prstGeom>
          <a:solidFill>
            <a:srgbClr val="EEF2EE"/>
          </a:solidFill>
          <a:ln w="6350">
            <a:solidFill>
              <a:srgbClr val="EEF2EE"/>
            </a:solidFill>
            <a:prstDash val="solid"/>
          </a:ln>
        </p:spPr>
      </p:sp>
      <p:sp>
        <p:nvSpPr>
          <p:cNvPr id="10" name="Text 8"/>
          <p:cNvSpPr txBox="1"/>
          <p:nvPr/>
        </p:nvSpPr>
        <p:spPr>
          <a:xfrm>
            <a:off x="4709160" y="1371600"/>
            <a:ext cx="1645920" cy="777240"/>
          </a:xfrm>
          <a:prstGeom prst="rect">
            <a:avLst/>
          </a:prstGeom>
          <a:noFill/>
          <a:ln/>
        </p:spPr>
        <p:txBody>
          <a:bodyPr wrap="square" lIns="0" tIns="0" rIns="0" bIns="0" rtlCol="0" anchor="ctr"/>
          <a:lstStyle/>
          <a:p>
            <a:pPr algn="ctr" indent="0" marL="0">
              <a:buNone/>
            </a:pPr>
            <a:r>
              <a:rPr lang="en-US" sz="3400" b="1" dirty="0">
                <a:solidFill>
                  <a:srgbClr val="6E757C"/>
                </a:solidFill>
                <a:latin typeface="Cambria" pitchFamily="34" charset="0"/>
                <a:ea typeface="Cambria" pitchFamily="34" charset="-122"/>
                <a:cs typeface="Cambria" pitchFamily="34" charset="-120"/>
              </a:rPr>
              <a:t>11,018</a:t>
            </a:r>
            <a:endParaRPr lang="en-US" sz="3400" dirty="0"/>
          </a:p>
        </p:txBody>
      </p:sp>
      <p:sp>
        <p:nvSpPr>
          <p:cNvPr id="11" name="Text 9"/>
          <p:cNvSpPr txBox="1"/>
          <p:nvPr/>
        </p:nvSpPr>
        <p:spPr>
          <a:xfrm>
            <a:off x="4709160" y="2152498"/>
            <a:ext cx="1645920" cy="497434"/>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Red Mountain Pass על US 550 [מאומת]</a:t>
            </a:r>
            <a:endParaRPr lang="en-US" sz="1200" dirty="0"/>
          </a:p>
        </p:txBody>
      </p:sp>
      <p:sp>
        <p:nvSpPr>
          <p:cNvPr id="12" name="Shape 10"/>
          <p:cNvSpPr/>
          <p:nvPr/>
        </p:nvSpPr>
        <p:spPr>
          <a:xfrm>
            <a:off x="6629400" y="1188720"/>
            <a:ext cx="2057400" cy="1554480"/>
          </a:xfrm>
          <a:prstGeom prst="roundRect">
            <a:avLst>
              <a:gd name="adj" fmla="val 4706"/>
            </a:avLst>
          </a:prstGeom>
          <a:solidFill>
            <a:srgbClr val="EEF2EE"/>
          </a:solidFill>
          <a:ln w="6350">
            <a:solidFill>
              <a:srgbClr val="EEF2EE"/>
            </a:solidFill>
            <a:prstDash val="solid"/>
          </a:ln>
        </p:spPr>
      </p:sp>
      <p:sp>
        <p:nvSpPr>
          <p:cNvPr id="13" name="Text 11"/>
          <p:cNvSpPr txBox="1"/>
          <p:nvPr/>
        </p:nvSpPr>
        <p:spPr>
          <a:xfrm>
            <a:off x="6766560" y="1371600"/>
            <a:ext cx="1783080" cy="777240"/>
          </a:xfrm>
          <a:prstGeom prst="rect">
            <a:avLst/>
          </a:prstGeom>
          <a:noFill/>
          <a:ln/>
        </p:spPr>
        <p:txBody>
          <a:bodyPr wrap="square" lIns="0" tIns="0" rIns="0" bIns="0" rtlCol="0" anchor="ctr"/>
          <a:lstStyle/>
          <a:p>
            <a:pPr algn="ctr" indent="0" marL="0">
              <a:buNone/>
            </a:pPr>
            <a:r>
              <a:rPr lang="en-US" sz="3400" b="1" dirty="0">
                <a:solidFill>
                  <a:srgbClr val="B5651D"/>
                </a:solidFill>
                <a:latin typeface="Cambria" pitchFamily="34" charset="0"/>
                <a:ea typeface="Cambria" pitchFamily="34" charset="-122"/>
                <a:cs typeface="Cambria" pitchFamily="34" charset="-120"/>
              </a:rPr>
              <a:t>9,475</a:t>
            </a:r>
            <a:endParaRPr lang="en-US" sz="3400" dirty="0"/>
          </a:p>
        </p:txBody>
      </p:sp>
      <p:sp>
        <p:nvSpPr>
          <p:cNvPr id="14" name="Text 12"/>
          <p:cNvSpPr txBox="1"/>
          <p:nvPr/>
        </p:nvSpPr>
        <p:spPr>
          <a:xfrm>
            <a:off x="6766560" y="2152498"/>
            <a:ext cx="1783080" cy="497434"/>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Bear Lake, תחנת הכניסה לפארק [מאומת]</a:t>
            </a:r>
            <a:endParaRPr lang="en-US" sz="1200" dirty="0"/>
          </a:p>
        </p:txBody>
      </p:sp>
      <p:sp>
        <p:nvSpPr>
          <p:cNvPr id="15" name="Text 13"/>
          <p:cNvSpPr txBox="1"/>
          <p:nvPr/>
        </p:nvSpPr>
        <p:spPr>
          <a:xfrm>
            <a:off x="457200" y="2971800"/>
            <a:ext cx="8229600" cy="164592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קו פרשת המים הגדול (Continental Divide) חוצה את קולורדו, והוא מפריד בין נחלים שזורמים לאוקיינוס השקט לאלה שזורמים לאטלנטי.</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רוב השטח שבו נטייל נמצא מעל 7,000 רגל. זו הסיבה שההסתגלות לגובה היא נושא מרכזי בתכנון.</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הרי הרוקי צעירים יחסית מבחינה גיאולוגית, וצורתם מעוצבת בעיקר על ידי הרמה טקטונית ופעולת קרחונים בתקופת הקרח האחרונה.</a:t>
            </a:r>
            <a:endParaRPr lang="en-US" sz="1400" dirty="0"/>
          </a:p>
        </p:txBody>
      </p:sp>
      <p:sp>
        <p:nvSpPr>
          <p:cNvPr id="16" name="Text 1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(Trail Ridge Road, Bear Lake Road), drivepikespeak.com, US 550 / Red Mountain Pass (roadtravelamerica.com). הרקע הגיאולוגי: ידע כללי, לאמת במקור USGS לפני ציטוט.</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פרופיל גובה: הנקודות שנטייל בהן</a:t>
            </a:r>
            <a:endParaRPr lang="en-US" sz="3200" dirty="0"/>
          </a:p>
        </p:txBody>
      </p:sp>
      <p:graphicFrame>
        <p:nvGraphicFramePr>
          <p:cNvPr id="3" name="Chart 0" descr=""/>
          <p:cNvGraphicFramePr/>
          <p:nvPr/>
        </p:nvGraphicFramePr>
        <p:xfrm>
          <a:off x="457200" y="1097280"/>
          <a:ext cx="822960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drivepikespeak.com, San Juan National Forest (Ice Lake: נקודה מרבית 12,260 רגל), SJMA (Upper Blue Lake 12,392 רגל), visitouray.com (Ouray: ערך משוער). 'טווח' = מקורות שונים; הערכים כאן הם הערך הנפוץ.</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גאוגרפיה ואקלים: למה האזורים שונים כל כך</a:t>
            </a:r>
            <a:endParaRPr lang="en-US" sz="3200" dirty="0"/>
          </a:p>
        </p:txBody>
      </p:sp>
      <p:sp>
        <p:nvSpPr>
          <p:cNvPr id="3" name="Shape 1"/>
          <p:cNvSpPr/>
          <p:nvPr/>
        </p:nvSpPr>
        <p:spPr>
          <a:xfrm>
            <a:off x="457200" y="1188720"/>
            <a:ext cx="3977640" cy="1600200"/>
          </a:xfrm>
          <a:prstGeom prst="roundRect">
            <a:avLst>
              <a:gd name="adj" fmla="val 4571"/>
            </a:avLst>
          </a:prstGeom>
          <a:solidFill>
            <a:srgbClr val="EEF2EE"/>
          </a:solidFill>
          <a:ln w="6350">
            <a:solidFill>
              <a:srgbClr val="EEF2EE"/>
            </a:solidFill>
            <a:prstDash val="solid"/>
          </a:ln>
        </p:spPr>
      </p:sp>
      <p:sp>
        <p:nvSpPr>
          <p:cNvPr id="4" name="Text 2"/>
          <p:cNvSpPr txBox="1"/>
          <p:nvPr/>
        </p:nvSpPr>
        <p:spPr>
          <a:xfrm>
            <a:off x="621792" y="131673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מבנה הנוף</a:t>
            </a:r>
            <a:endParaRPr lang="en-US" sz="1500" dirty="0"/>
          </a:p>
        </p:txBody>
      </p:sp>
      <p:sp>
        <p:nvSpPr>
          <p:cNvPr id="5" name="Text 3"/>
          <p:cNvSpPr txBox="1"/>
          <p:nvPr/>
        </p:nvSpPr>
        <p:spPr>
          <a:xfrm>
            <a:off x="621792" y="1737360"/>
            <a:ext cx="3648456" cy="9418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מישורים גבוהים ממזרח (High Plains) → Front Range עם הרי הרוקי הקדמיים → רכס הפרשה הרחב → מדרון מערבי ושטחי הרים מרוחקים (San Juan).</a:t>
            </a:r>
            <a:endParaRPr lang="en-US" sz="1250" dirty="0"/>
          </a:p>
        </p:txBody>
      </p:sp>
      <p:sp>
        <p:nvSpPr>
          <p:cNvPr id="6" name="Shape 4"/>
          <p:cNvSpPr/>
          <p:nvPr/>
        </p:nvSpPr>
        <p:spPr>
          <a:xfrm>
            <a:off x="4709160" y="1188720"/>
            <a:ext cx="3977640" cy="1600200"/>
          </a:xfrm>
          <a:prstGeom prst="roundRect">
            <a:avLst>
              <a:gd name="adj" fmla="val 4571"/>
            </a:avLst>
          </a:prstGeom>
          <a:solidFill>
            <a:srgbClr val="EEF2EE"/>
          </a:solidFill>
          <a:ln w="6350">
            <a:solidFill>
              <a:srgbClr val="EEF2EE"/>
            </a:solidFill>
            <a:prstDash val="solid"/>
          </a:ln>
        </p:spPr>
      </p:sp>
      <p:sp>
        <p:nvSpPr>
          <p:cNvPr id="7" name="Text 5"/>
          <p:cNvSpPr txBox="1"/>
          <p:nvPr/>
        </p:nvSpPr>
        <p:spPr>
          <a:xfrm>
            <a:off x="4873752" y="131673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הבדלי גובה</a:t>
            </a:r>
            <a:endParaRPr lang="en-US" sz="1500" dirty="0"/>
          </a:p>
        </p:txBody>
      </p:sp>
      <p:sp>
        <p:nvSpPr>
          <p:cNvPr id="8" name="Text 6"/>
          <p:cNvSpPr txBox="1"/>
          <p:nvPr/>
        </p:nvSpPr>
        <p:spPr>
          <a:xfrm>
            <a:off x="4873752" y="1737360"/>
            <a:ext cx="3648456" cy="9418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בין עמק נמוך לפסגה הגבוהה יש הבדל של מעל 8,000 רגל. הבדל כזה משנה את הצמחייה, הטמפרטורה והמשקעים בתוך מרחק הליכה קצר.</a:t>
            </a:r>
            <a:endParaRPr lang="en-US" sz="1250" dirty="0"/>
          </a:p>
        </p:txBody>
      </p:sp>
      <p:sp>
        <p:nvSpPr>
          <p:cNvPr id="9" name="Shape 7"/>
          <p:cNvSpPr/>
          <p:nvPr/>
        </p:nvSpPr>
        <p:spPr>
          <a:xfrm>
            <a:off x="457200" y="2926080"/>
            <a:ext cx="3977640" cy="1645920"/>
          </a:xfrm>
          <a:prstGeom prst="roundRect">
            <a:avLst>
              <a:gd name="adj" fmla="val 4444"/>
            </a:avLst>
          </a:prstGeom>
          <a:solidFill>
            <a:srgbClr val="EEF2EE"/>
          </a:solidFill>
          <a:ln w="6350">
            <a:solidFill>
              <a:srgbClr val="EEF2EE"/>
            </a:solidFill>
            <a:prstDash val="solid"/>
          </a:ln>
        </p:spPr>
      </p:sp>
      <p:sp>
        <p:nvSpPr>
          <p:cNvPr id="10" name="Text 8"/>
          <p:cNvSpPr txBox="1"/>
          <p:nvPr/>
        </p:nvSpPr>
        <p:spPr>
          <a:xfrm>
            <a:off x="621792" y="305409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אקלים יבש ושמשי</a:t>
            </a:r>
            <a:endParaRPr lang="en-US" sz="1500" dirty="0"/>
          </a:p>
        </p:txBody>
      </p:sp>
      <p:sp>
        <p:nvSpPr>
          <p:cNvPr id="11" name="Text 9"/>
          <p:cNvSpPr txBox="1"/>
          <p:nvPr/>
        </p:nvSpPr>
        <p:spPr>
          <a:xfrm>
            <a:off x="621792" y="3474720"/>
            <a:ext cx="3648456" cy="98755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קולורדו יבשה יחסית ושמשית, עם שמש חזקה בגבהים (קרינת UV גבוהה), טווח טמפרטורות יומי גדול ורוחות חזקות בגבהים.</a:t>
            </a:r>
            <a:endParaRPr lang="en-US" sz="1250" dirty="0"/>
          </a:p>
        </p:txBody>
      </p:sp>
      <p:sp>
        <p:nvSpPr>
          <p:cNvPr id="12" name="Shape 10"/>
          <p:cNvSpPr/>
          <p:nvPr/>
        </p:nvSpPr>
        <p:spPr>
          <a:xfrm>
            <a:off x="4709160" y="2926080"/>
            <a:ext cx="3977640" cy="1645920"/>
          </a:xfrm>
          <a:prstGeom prst="roundRect">
            <a:avLst>
              <a:gd name="adj" fmla="val 4444"/>
            </a:avLst>
          </a:prstGeom>
          <a:solidFill>
            <a:srgbClr val="EEF2EE"/>
          </a:solidFill>
          <a:ln w="6350">
            <a:solidFill>
              <a:srgbClr val="EEF2EE"/>
            </a:solidFill>
            <a:prstDash val="solid"/>
          </a:ln>
        </p:spPr>
      </p:sp>
      <p:sp>
        <p:nvSpPr>
          <p:cNvPr id="13" name="Text 11"/>
          <p:cNvSpPr txBox="1"/>
          <p:nvPr/>
        </p:nvSpPr>
        <p:spPr>
          <a:xfrm>
            <a:off x="4873752" y="305409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משקעים בהרים</a:t>
            </a:r>
            <a:endParaRPr lang="en-US" sz="1500" dirty="0"/>
          </a:p>
        </p:txBody>
      </p:sp>
      <p:sp>
        <p:nvSpPr>
          <p:cNvPr id="14" name="Text 12"/>
          <p:cNvSpPr txBox="1"/>
          <p:nvPr/>
        </p:nvSpPr>
        <p:spPr>
          <a:xfrm>
            <a:off x="4873752" y="3474720"/>
            <a:ext cx="3648456" cy="98755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הרכסים הגבוהים מקבלים את רוב המשקעים בחורף כשלג, ובקיץ מתרחשות סופות רעמים אחר הצהריים. כמות המשקעים מדויקת נבדקת במקור NOAA/NRCS.</a:t>
            </a:r>
            <a:endParaRPr lang="en-US" sz="1250" dirty="0"/>
          </a:p>
        </p:txBody>
      </p:sp>
      <p:sp>
        <p:nvSpPr>
          <p:cNvPr id="15" name="Text 13"/>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רקע כללי על מבנה הנוף ותופעות האקלים: מקורות NPS ו-USGS. נתוני משקעים ספציפיים לא נאספו במחקר זה [לאימות].</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מערכות אקולוגיות עיקריות בקולורדו</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2011680"/>
                <a:gridCol w="2377440"/>
                <a:gridCol w="1828800"/>
              </a:tblGrid>
              <a:tr h="640080">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מערכת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טווח גובה (בערך)</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צמחייה אופיינית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בעלי חיים אופייניים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6400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מישורים ומדבריות גבוהות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נמוך (מתחת ~6,000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דשא גבוה, קקטוסים, שיחים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אנטילופה, ציפורים, יונקים קטנים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6400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Montane (הרי ביניים)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כ-5,500–8,500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פונדרוסה, דאגלס-אשוחית, אספן</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איילה מצויה, דוב שחור, אייל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6400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Subalpine (תת-אלפיני)</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כ-8,500–11,500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אשוחית אנגלמן, אשוח הרים, אורן לודג'פול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אייל, איילת, ארנב שלג, ציפור Clark's Nutcracker</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6400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Alpine Tundra (טונדרה)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מעל קו העצים (כ-11,500+)</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שיחים זוחלים, חזזיות, פרחי בר קטנים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כבש הרים, פיקה, מרמוטה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טווחי הגובה הם הערכה משוערת ותלויה בחשיפה ובכיוון המדרון. לאימות מול NPS (RMNP Vegetation) ו-USFS. הרשימות הן דוגמאות ואינן ממצה.</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השפעת הגובה על הטבע</a:t>
            </a:r>
            <a:endParaRPr lang="en-US" sz="3200" dirty="0"/>
          </a:p>
        </p:txBody>
      </p:sp>
      <p:sp>
        <p:nvSpPr>
          <p:cNvPr id="3" name="Shape 1"/>
          <p:cNvSpPr/>
          <p:nvPr/>
        </p:nvSpPr>
        <p:spPr>
          <a:xfrm>
            <a:off x="457200" y="1188720"/>
            <a:ext cx="2606040" cy="2377440"/>
          </a:xfrm>
          <a:prstGeom prst="roundRect">
            <a:avLst>
              <a:gd name="adj" fmla="val 3077"/>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600" b="1" dirty="0">
                <a:solidFill>
                  <a:srgbClr val="2F5D46"/>
                </a:solidFill>
                <a:latin typeface="Cambria" pitchFamily="34" charset="0"/>
                <a:ea typeface="Cambria" pitchFamily="34" charset="-122"/>
                <a:cs typeface="Cambria" pitchFamily="34" charset="-120"/>
              </a:rPr>
              <a:t>טמפרטורה</a:t>
            </a:r>
            <a:endParaRPr lang="en-US" sz="1600" dirty="0"/>
          </a:p>
        </p:txBody>
      </p:sp>
      <p:sp>
        <p:nvSpPr>
          <p:cNvPr id="5" name="Text 3"/>
          <p:cNvSpPr txBox="1"/>
          <p:nvPr/>
        </p:nvSpPr>
        <p:spPr>
          <a:xfrm>
            <a:off x="62179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ככל שעולים כ-1,000 מטר, הטמפרטורה יורדת בכ-6.5°C. לכן חם מאוד בעמק ויכול להיות קר בפסגה באותו יום.</a:t>
            </a:r>
            <a:endParaRPr lang="en-US" sz="1250" dirty="0"/>
          </a:p>
        </p:txBody>
      </p:sp>
      <p:sp>
        <p:nvSpPr>
          <p:cNvPr id="6" name="Shape 4"/>
          <p:cNvSpPr/>
          <p:nvPr/>
        </p:nvSpPr>
        <p:spPr>
          <a:xfrm>
            <a:off x="3268980" y="1188720"/>
            <a:ext cx="2606040" cy="2377440"/>
          </a:xfrm>
          <a:prstGeom prst="roundRect">
            <a:avLst>
              <a:gd name="adj" fmla="val 3077"/>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600" b="1" dirty="0">
                <a:solidFill>
                  <a:srgbClr val="2F5D46"/>
                </a:solidFill>
                <a:latin typeface="Cambria" pitchFamily="34" charset="0"/>
                <a:ea typeface="Cambria" pitchFamily="34" charset="-122"/>
                <a:cs typeface="Cambria" pitchFamily="34" charset="-120"/>
              </a:rPr>
              <a:t>חמצן</a:t>
            </a:r>
            <a:endParaRPr lang="en-US" sz="1600" dirty="0"/>
          </a:p>
        </p:txBody>
      </p:sp>
      <p:sp>
        <p:nvSpPr>
          <p:cNvPr id="8" name="Text 6"/>
          <p:cNvSpPr txBox="1"/>
          <p:nvPr/>
        </p:nvSpPr>
        <p:spPr>
          <a:xfrm>
            <a:off x="343357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האוויר דליל יותר. מי שמגיע מגובה נמוך מרגיש עייפות מהר יותר, והתסמינים של מחלת גבהים עלולים להופיע כבר מעל כ-8,000 רגל.</a:t>
            </a:r>
            <a:endParaRPr lang="en-US" sz="1250" dirty="0"/>
          </a:p>
        </p:txBody>
      </p:sp>
      <p:sp>
        <p:nvSpPr>
          <p:cNvPr id="9" name="Shape 7"/>
          <p:cNvSpPr/>
          <p:nvPr/>
        </p:nvSpPr>
        <p:spPr>
          <a:xfrm>
            <a:off x="6080760" y="1188720"/>
            <a:ext cx="2606040" cy="2377440"/>
          </a:xfrm>
          <a:prstGeom prst="roundRect">
            <a:avLst>
              <a:gd name="adj" fmla="val 3077"/>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600" b="1" dirty="0">
                <a:solidFill>
                  <a:srgbClr val="2F5D46"/>
                </a:solidFill>
                <a:latin typeface="Cambria" pitchFamily="34" charset="0"/>
                <a:ea typeface="Cambria" pitchFamily="34" charset="-122"/>
                <a:cs typeface="Cambria" pitchFamily="34" charset="-120"/>
              </a:rPr>
              <a:t>צמחייה</a:t>
            </a:r>
            <a:endParaRPr lang="en-US" sz="1600" dirty="0"/>
          </a:p>
        </p:txBody>
      </p:sp>
      <p:sp>
        <p:nvSpPr>
          <p:cNvPr id="11" name="Text 9"/>
          <p:cNvSpPr txBox="1"/>
          <p:nvPr/>
        </p:nvSpPr>
        <p:spPr>
          <a:xfrm>
            <a:off x="624535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העצים מתמעטים וקטנים ככל שעולים. מעל קו העצים נשארת רק צמחייה נמוכה ועמידה לרוחות ולקור.</a:t>
            </a:r>
            <a:endParaRPr lang="en-US" sz="1250" dirty="0"/>
          </a:p>
        </p:txBody>
      </p:sp>
      <p:sp>
        <p:nvSpPr>
          <p:cNvPr id="12" name="Text 10"/>
          <p:cNvSpPr txBox="1"/>
          <p:nvPr/>
        </p:nvSpPr>
        <p:spPr>
          <a:xfrm>
            <a:off x="457200" y="3749040"/>
            <a:ext cx="8229600" cy="822960"/>
          </a:xfrm>
          <a:prstGeom prst="rect">
            <a:avLst/>
          </a:prstGeom>
          <a:noFill/>
          <a:ln/>
        </p:spPr>
        <p:txBody>
          <a:bodyPr wrap="square" lIns="0" tIns="0" rIns="0" bIns="0" rtlCol="0" anchor="t"/>
          <a:lstStyle/>
          <a:p>
            <a:pPr rtl="1" algn="r" indent="0" marL="0">
              <a:buNone/>
            </a:pPr>
            <a:r>
              <a:rPr lang="en-US" sz="1400" dirty="0">
                <a:solidFill>
                  <a:srgbClr val="1E2421"/>
                </a:solidFill>
                <a:latin typeface="Calibri" pitchFamily="34" charset="0"/>
                <a:ea typeface="Calibri" pitchFamily="34" charset="-122"/>
                <a:cs typeface="Calibri" pitchFamily="34" charset="-120"/>
              </a:rPr>
              <a:t>השפעה שלישית, פחות מוכרת: הקרינה. באוויר דליל יותר יש פחות סינון אטמוספרי, ולכן בגבהים קרני UV חזקות יותר. מומלצים משקפי שמש, קרם הגנה ובגדים מכסים.</a:t>
            </a:r>
            <a:endParaRPr lang="en-US" sz="1400" dirty="0"/>
          </a:p>
        </p:txBody>
      </p:sp>
      <p:sp>
        <p:nvSpPr>
          <p:cNvPr id="13" name="Text 1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קצב ירידת הטמפרטורה (Lapse Rate) הוא ערך ממוצע כללי. הסיכון למחלת גבהים מתואר ב-NPS ובמקורות רפואיים; ייעוץ פרטני לפני הטיול מומלץ.</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הקיץ האלפיני באוגוסט</a:t>
            </a:r>
            <a:endParaRPr lang="en-US" sz="3200" dirty="0"/>
          </a:p>
        </p:txBody>
      </p:sp>
      <p:sp>
        <p:nvSpPr>
          <p:cNvPr id="3" name="Text 1"/>
          <p:cNvSpPr txBox="1"/>
          <p:nvPr/>
        </p:nvSpPr>
        <p:spPr>
          <a:xfrm>
            <a:off x="457200" y="1188720"/>
            <a:ext cx="8229600" cy="3108960"/>
          </a:xfrm>
          <a:prstGeom prst="rect">
            <a:avLst/>
          </a:prstGeom>
          <a:noFill/>
          <a:ln/>
        </p:spPr>
        <p:txBody>
          <a:bodyPr wrap="square" lIns="0" tIns="0" rIns="0" bIns="0" rtlCol="0" anchor="t"/>
          <a:lstStyle/>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אוגוסט הוא שיא עונת הפריחה בגבהים: פרחי בר בשיא, בעיקר בדשאות ובאזורי הנחלים.</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השלג בגבהים נמס בדרך כלל עד סוף הקיץ, אבל שלג מוקדם או שרידי שלג בשטחים מוצלים עדיין אפשריים. נדיר, אך לא מובטח.</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סופות רעמים אחר הצהריים הן הסיכון הבולט ביותר בחודש הזה. לכן יוצאים לשבילים מוקדם ויורדים מהרכסים לפני צהריים מאוחרים.</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חיות הבר פעילות בבוקר ובערב. בוקר מוקדם הוא זמן טוב גם לצפייה ולצילום.</a:t>
            </a:r>
            <a:endParaRPr lang="en-US" sz="1500" dirty="0"/>
          </a:p>
        </p:txBody>
      </p:sp>
      <p:sp>
        <p:nvSpPr>
          <p:cNvPr id="4" name="Text 2"/>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(Weather &amp; Safety), Colorado Parks and Wildlife. תנאי השלג והסופות בשנה הספציפית ייבדקו רק קרוב לתאריך.</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E26"/>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1188720"/>
          </a:xfrm>
          <a:prstGeom prst="rect">
            <a:avLst/>
          </a:prstGeom>
          <a:noFill/>
          <a:ln/>
        </p:spPr>
        <p:txBody>
          <a:bodyPr wrap="square" lIns="0" tIns="0" rIns="0" bIns="0" rtlCol="0" anchor="ctr"/>
          <a:lstStyle/>
          <a:p>
            <a:pPr algn="r" indent="0" marL="0">
              <a:buNone/>
            </a:pPr>
            <a:r>
              <a:rPr lang="en-US" sz="8000" b="1" dirty="0">
                <a:solidFill>
                  <a:srgbClr val="8DB06B"/>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457200" y="2377440"/>
            <a:ext cx="8229600" cy="822960"/>
          </a:xfrm>
          <a:prstGeom prst="rect">
            <a:avLst/>
          </a:prstGeom>
          <a:noFill/>
          <a:ln/>
        </p:spPr>
        <p:txBody>
          <a:bodyPr wrap="square" lIns="0" tIns="0" rIns="0" bIns="0" rtlCol="0" anchor="ctr"/>
          <a:lstStyle/>
          <a:p>
            <a:pPr rtl="1" algn="r" indent="0" marL="0">
              <a:buNone/>
            </a:pPr>
            <a:r>
              <a:rPr lang="en-US" sz="4000" b="1" dirty="0">
                <a:solidFill>
                  <a:srgbClr val="FFFFFF"/>
                </a:solidFill>
                <a:latin typeface="Cambria" pitchFamily="34" charset="0"/>
                <a:ea typeface="Cambria" pitchFamily="34" charset="-122"/>
                <a:cs typeface="Cambria" pitchFamily="34" charset="-120"/>
              </a:rPr>
              <a:t>Colorado Springs · Pikes Peak</a:t>
            </a:r>
            <a:endParaRPr lang="en-US" sz="4000" dirty="0"/>
          </a:p>
        </p:txBody>
      </p:sp>
      <p:sp>
        <p:nvSpPr>
          <p:cNvPr id="4" name="Text 2"/>
          <p:cNvSpPr txBox="1"/>
          <p:nvPr/>
        </p:nvSpPr>
        <p:spPr>
          <a:xfrm>
            <a:off x="457200" y="3291840"/>
            <a:ext cx="8229600" cy="548640"/>
          </a:xfrm>
          <a:prstGeom prst="rect">
            <a:avLst/>
          </a:prstGeom>
          <a:noFill/>
          <a:ln/>
        </p:spPr>
        <p:txBody>
          <a:bodyPr wrap="square" lIns="0" tIns="0" rIns="0" bIns="0" rtlCol="0" anchor="ctr"/>
          <a:lstStyle/>
          <a:p>
            <a:pPr rtl="1" algn="r" indent="0" marL="0">
              <a:buNone/>
            </a:pPr>
            <a:r>
              <a:rPr lang="en-US" sz="1800" dirty="0">
                <a:solidFill>
                  <a:srgbClr val="C9D6CE"/>
                </a:solidFill>
                <a:latin typeface="Calibri" pitchFamily="34" charset="0"/>
                <a:ea typeface="Calibri" pitchFamily="34" charset="-122"/>
                <a:cs typeface="Calibri" pitchFamily="34" charset="-120"/>
              </a:rPr>
              <a:t>ארבעה ימים בין עיר בשולי ההרים לפסגה של 14,115 רגל</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Colorado Springs: העיר על שולי הרי הרוקי</a:t>
            </a:r>
            <a:endParaRPr lang="en-US" sz="3200" dirty="0"/>
          </a:p>
        </p:txBody>
      </p:sp>
      <p:sp>
        <p:nvSpPr>
          <p:cNvPr id="3" name="Shape 1"/>
          <p:cNvSpPr/>
          <p:nvPr/>
        </p:nvSpPr>
        <p:spPr>
          <a:xfrm>
            <a:off x="457200" y="1188720"/>
            <a:ext cx="3840480" cy="3291840"/>
          </a:xfrm>
          <a:prstGeom prst="rect">
            <a:avLst/>
          </a:prstGeom>
          <a:solidFill>
            <a:srgbClr val="DDE3DD"/>
          </a:solidFill>
          <a:ln w="12700">
            <a:solidFill>
              <a:srgbClr val="8A958E"/>
            </a:solidFill>
            <a:prstDash val="dash"/>
          </a:ln>
        </p:spPr>
      </p:sp>
      <p:sp>
        <p:nvSpPr>
          <p:cNvPr id="4" name="Text 2"/>
          <p:cNvSpPr txBox="1"/>
          <p:nvPr/>
        </p:nvSpPr>
        <p:spPr>
          <a:xfrm>
            <a:off x="566928" y="1298448"/>
            <a:ext cx="3621024" cy="3072384"/>
          </a:xfrm>
          <a:prstGeom prst="rect">
            <a:avLst/>
          </a:prstGeom>
          <a:noFill/>
          <a:ln/>
        </p:spPr>
        <p:txBody>
          <a:bodyPr wrap="square" lIns="0" tIns="0" rIns="0" bIns="0" rtlCol="0" anchor="ctr"/>
          <a:lstStyle/>
          <a:p>
            <a:pPr rtl="1" algn="ctr" indent="0" marL="0">
              <a:buNone/>
            </a:pPr>
            <a:r>
              <a:rPr lang="en-US" sz="1100" i="1" dirty="0">
                <a:solidFill>
                  <a:srgbClr val="5A625E"/>
                </a:solidFill>
                <a:latin typeface="Calibri" pitchFamily="34" charset="0"/>
                <a:ea typeface="Calibri" pitchFamily="34" charset="-122"/>
                <a:cs typeface="Calibri" pitchFamily="34" charset="-120"/>
              </a:rPr>
              <a:t>[תמונה לשילוב: Garden of the Gods, צילום נוף אמיתי של צוקי הסלע האדומים (סלע משקע) על רקע השמיים]</a:t>
            </a:r>
            <a:endParaRPr lang="en-US" sz="1100" dirty="0"/>
          </a:p>
        </p:txBody>
      </p:sp>
      <p:sp>
        <p:nvSpPr>
          <p:cNvPr id="5" name="Text 3"/>
          <p:cNvSpPr txBox="1"/>
          <p:nvPr/>
        </p:nvSpPr>
        <p:spPr>
          <a:xfrm>
            <a:off x="4572000" y="1188720"/>
            <a:ext cx="4114800" cy="3291840"/>
          </a:xfrm>
          <a:prstGeom prst="rect">
            <a:avLst/>
          </a:prstGeom>
          <a:noFill/>
          <a:ln/>
        </p:spPr>
        <p:txBody>
          <a:bodyPr wrap="square" lIns="0" tIns="0" rIns="0" bIns="0" rtlCol="0" anchor="t"/>
          <a:lstStyle/>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העיר נמצאת בשולי ה-Front Range, בין המישורים לבין ההרים.</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Garden of the Gods: צוקים גבוהים של סלע משקע אדום ומעוגל, תוצאה של שכבות שנחשפו בהרמה ובשחיקה לאורך מיליוני שנים.</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North Cheyenne Cañon: קניון נחל עם יער מחטני ופעילות מים. השבילים בו מחברים בין נופים נמוכים לבין אזורים גבוהים יותר.</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Manitou Springs: מעיינות מינרליים בשולי ההר, נקודת יציאה נוחה לשביל ולנופים באזור.</a:t>
            </a:r>
            <a:endParaRPr lang="en-US" sz="1350" dirty="0"/>
          </a:p>
        </p:txBody>
      </p:sp>
      <p:sp>
        <p:nvSpPr>
          <p:cNvPr id="6" name="Text 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תיאור גאולוגי כללי: NPS/USGS; לאימות מול מקורות Garden of the Gods Park. מיקום מעיינות Manitou: ידע כללי.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Pikes Peak: הפסגה ו-Pikes Peak Highway</a:t>
            </a:r>
            <a:endParaRPr lang="en-US" sz="3200" dirty="0"/>
          </a:p>
        </p:txBody>
      </p:sp>
      <p:sp>
        <p:nvSpPr>
          <p:cNvPr id="3" name="Shape 1"/>
          <p:cNvSpPr/>
          <p:nvPr/>
        </p:nvSpPr>
        <p:spPr>
          <a:xfrm>
            <a:off x="457200" y="1188720"/>
            <a:ext cx="1920240" cy="1463040"/>
          </a:xfrm>
          <a:prstGeom prst="roundRect">
            <a:avLst>
              <a:gd name="adj" fmla="val 5000"/>
            </a:avLst>
          </a:prstGeom>
          <a:solidFill>
            <a:srgbClr val="EEF2EE"/>
          </a:solidFill>
          <a:ln w="6350">
            <a:solidFill>
              <a:srgbClr val="EEF2EE"/>
            </a:solidFill>
            <a:prstDash val="solid"/>
          </a:ln>
        </p:spPr>
      </p:sp>
      <p:sp>
        <p:nvSpPr>
          <p:cNvPr id="4" name="Text 2"/>
          <p:cNvSpPr txBox="1"/>
          <p:nvPr/>
        </p:nvSpPr>
        <p:spPr>
          <a:xfrm>
            <a:off x="594360" y="1371600"/>
            <a:ext cx="1645920" cy="731520"/>
          </a:xfrm>
          <a:prstGeom prst="rect">
            <a:avLst/>
          </a:prstGeom>
          <a:noFill/>
          <a:ln/>
        </p:spPr>
        <p:txBody>
          <a:bodyPr wrap="square" lIns="0" tIns="0" rIns="0" bIns="0" rtlCol="0" anchor="ctr"/>
          <a:lstStyle/>
          <a:p>
            <a:pPr algn="ctr" indent="0" marL="0">
              <a:buNone/>
            </a:pPr>
            <a:r>
              <a:rPr lang="en-US" sz="3400" b="1" dirty="0">
                <a:solidFill>
                  <a:srgbClr val="2F5D46"/>
                </a:solidFill>
                <a:latin typeface="Cambria" pitchFamily="34" charset="0"/>
                <a:ea typeface="Cambria" pitchFamily="34" charset="-122"/>
                <a:cs typeface="Cambria" pitchFamily="34" charset="-120"/>
              </a:rPr>
              <a:t>14,115</a:t>
            </a:r>
            <a:endParaRPr lang="en-US" sz="3400" dirty="0"/>
          </a:p>
        </p:txBody>
      </p:sp>
      <p:sp>
        <p:nvSpPr>
          <p:cNvPr id="5" name="Text 3"/>
          <p:cNvSpPr txBox="1"/>
          <p:nvPr/>
        </p:nvSpPr>
        <p:spPr>
          <a:xfrm>
            <a:off x="594360" y="2095805"/>
            <a:ext cx="1645920" cy="468173"/>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פסגה [מאומת]</a:t>
            </a:r>
            <a:endParaRPr lang="en-US" sz="1200" dirty="0"/>
          </a:p>
        </p:txBody>
      </p:sp>
      <p:sp>
        <p:nvSpPr>
          <p:cNvPr id="6" name="Shape 4"/>
          <p:cNvSpPr/>
          <p:nvPr/>
        </p:nvSpPr>
        <p:spPr>
          <a:xfrm>
            <a:off x="2514600" y="1188720"/>
            <a:ext cx="1920240" cy="1463040"/>
          </a:xfrm>
          <a:prstGeom prst="roundRect">
            <a:avLst>
              <a:gd name="adj" fmla="val 5000"/>
            </a:avLst>
          </a:prstGeom>
          <a:solidFill>
            <a:srgbClr val="EEF2EE"/>
          </a:solidFill>
          <a:ln w="6350">
            <a:solidFill>
              <a:srgbClr val="EEF2EE"/>
            </a:solidFill>
            <a:prstDash val="solid"/>
          </a:ln>
        </p:spPr>
      </p:sp>
      <p:sp>
        <p:nvSpPr>
          <p:cNvPr id="7" name="Text 5"/>
          <p:cNvSpPr txBox="1"/>
          <p:nvPr/>
        </p:nvSpPr>
        <p:spPr>
          <a:xfrm>
            <a:off x="2651760" y="1371600"/>
            <a:ext cx="1645920" cy="731520"/>
          </a:xfrm>
          <a:prstGeom prst="rect">
            <a:avLst/>
          </a:prstGeom>
          <a:noFill/>
          <a:ln/>
        </p:spPr>
        <p:txBody>
          <a:bodyPr wrap="square" lIns="0" tIns="0" rIns="0" bIns="0" rtlCol="0" anchor="ctr"/>
          <a:lstStyle/>
          <a:p>
            <a:pPr algn="ctr" indent="0" marL="0">
              <a:buNone/>
            </a:pPr>
            <a:r>
              <a:rPr lang="en-US" sz="3400" b="1" dirty="0">
                <a:solidFill>
                  <a:srgbClr val="2C7A9B"/>
                </a:solidFill>
                <a:latin typeface="Cambria" pitchFamily="34" charset="0"/>
                <a:ea typeface="Cambria" pitchFamily="34" charset="-122"/>
                <a:cs typeface="Cambria" pitchFamily="34" charset="-120"/>
              </a:rPr>
              <a:t>19 mi</a:t>
            </a:r>
            <a:endParaRPr lang="en-US" sz="3400" dirty="0"/>
          </a:p>
        </p:txBody>
      </p:sp>
      <p:sp>
        <p:nvSpPr>
          <p:cNvPr id="8" name="Text 6"/>
          <p:cNvSpPr txBox="1"/>
          <p:nvPr/>
        </p:nvSpPr>
        <p:spPr>
          <a:xfrm>
            <a:off x="2651760" y="2095805"/>
            <a:ext cx="1645920" cy="468173"/>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אורך הכביש לפסגה [מאומת]</a:t>
            </a:r>
            <a:endParaRPr lang="en-US" sz="1200" dirty="0"/>
          </a:p>
        </p:txBody>
      </p:sp>
      <p:sp>
        <p:nvSpPr>
          <p:cNvPr id="9" name="Shape 7"/>
          <p:cNvSpPr/>
          <p:nvPr/>
        </p:nvSpPr>
        <p:spPr>
          <a:xfrm>
            <a:off x="4572000" y="1188720"/>
            <a:ext cx="1920240" cy="1463040"/>
          </a:xfrm>
          <a:prstGeom prst="roundRect">
            <a:avLst>
              <a:gd name="adj" fmla="val 5000"/>
            </a:avLst>
          </a:prstGeom>
          <a:solidFill>
            <a:srgbClr val="EEF2EE"/>
          </a:solidFill>
          <a:ln w="6350">
            <a:solidFill>
              <a:srgbClr val="EEF2EE"/>
            </a:solidFill>
            <a:prstDash val="solid"/>
          </a:ln>
        </p:spPr>
      </p:sp>
      <p:sp>
        <p:nvSpPr>
          <p:cNvPr id="10" name="Text 8"/>
          <p:cNvSpPr txBox="1"/>
          <p:nvPr/>
        </p:nvSpPr>
        <p:spPr>
          <a:xfrm>
            <a:off x="4709160" y="1371600"/>
            <a:ext cx="1645920" cy="731520"/>
          </a:xfrm>
          <a:prstGeom prst="rect">
            <a:avLst/>
          </a:prstGeom>
          <a:noFill/>
          <a:ln/>
        </p:spPr>
        <p:txBody>
          <a:bodyPr wrap="square" lIns="0" tIns="0" rIns="0" bIns="0" rtlCol="0" anchor="ctr"/>
          <a:lstStyle/>
          <a:p>
            <a:pPr algn="ctr" indent="0" marL="0">
              <a:buNone/>
            </a:pPr>
            <a:r>
              <a:rPr lang="en-US" sz="3400" b="1" dirty="0">
                <a:solidFill>
                  <a:srgbClr val="6E757C"/>
                </a:solidFill>
                <a:latin typeface="Cambria" pitchFamily="34" charset="0"/>
                <a:ea typeface="Cambria" pitchFamily="34" charset="-122"/>
                <a:cs typeface="Cambria" pitchFamily="34" charset="-120"/>
              </a:rPr>
              <a:t>$18</a:t>
            </a:r>
            <a:endParaRPr lang="en-US" sz="3400" dirty="0"/>
          </a:p>
        </p:txBody>
      </p:sp>
      <p:sp>
        <p:nvSpPr>
          <p:cNvPr id="11" name="Text 9"/>
          <p:cNvSpPr txBox="1"/>
          <p:nvPr/>
        </p:nvSpPr>
        <p:spPr>
          <a:xfrm>
            <a:off x="4709160" y="2095805"/>
            <a:ext cx="1645920" cy="468173"/>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מבוגר (16+) למעבר, 2026 [מאומת]</a:t>
            </a:r>
            <a:endParaRPr lang="en-US" sz="1200" dirty="0"/>
          </a:p>
        </p:txBody>
      </p:sp>
      <p:sp>
        <p:nvSpPr>
          <p:cNvPr id="12" name="Shape 10"/>
          <p:cNvSpPr/>
          <p:nvPr/>
        </p:nvSpPr>
        <p:spPr>
          <a:xfrm>
            <a:off x="6629400" y="1188720"/>
            <a:ext cx="2057400" cy="1463040"/>
          </a:xfrm>
          <a:prstGeom prst="roundRect">
            <a:avLst>
              <a:gd name="adj" fmla="val 5000"/>
            </a:avLst>
          </a:prstGeom>
          <a:solidFill>
            <a:srgbClr val="EEF2EE"/>
          </a:solidFill>
          <a:ln w="6350">
            <a:solidFill>
              <a:srgbClr val="EEF2EE"/>
            </a:solidFill>
            <a:prstDash val="solid"/>
          </a:ln>
        </p:spPr>
      </p:sp>
      <p:sp>
        <p:nvSpPr>
          <p:cNvPr id="13" name="Text 11"/>
          <p:cNvSpPr txBox="1"/>
          <p:nvPr/>
        </p:nvSpPr>
        <p:spPr>
          <a:xfrm>
            <a:off x="6766560" y="1371600"/>
            <a:ext cx="1783080" cy="731520"/>
          </a:xfrm>
          <a:prstGeom prst="rect">
            <a:avLst/>
          </a:prstGeom>
          <a:noFill/>
          <a:ln/>
        </p:spPr>
        <p:txBody>
          <a:bodyPr wrap="square" lIns="0" tIns="0" rIns="0" bIns="0" rtlCol="0" anchor="ctr"/>
          <a:lstStyle/>
          <a:p>
            <a:pPr algn="ctr" indent="0" marL="0">
              <a:buNone/>
            </a:pPr>
            <a:r>
              <a:rPr lang="en-US" sz="3400" b="1" dirty="0">
                <a:solidFill>
                  <a:srgbClr val="B5651D"/>
                </a:solidFill>
                <a:latin typeface="Cambria" pitchFamily="34" charset="0"/>
                <a:ea typeface="Cambria" pitchFamily="34" charset="-122"/>
                <a:cs typeface="Cambria" pitchFamily="34" charset="-120"/>
              </a:rPr>
              <a:t>$2</a:t>
            </a:r>
            <a:endParaRPr lang="en-US" sz="3400" dirty="0"/>
          </a:p>
        </p:txBody>
      </p:sp>
      <p:sp>
        <p:nvSpPr>
          <p:cNvPr id="14" name="Text 12"/>
          <p:cNvSpPr txBox="1"/>
          <p:nvPr/>
        </p:nvSpPr>
        <p:spPr>
          <a:xfrm>
            <a:off x="6766560" y="2095805"/>
            <a:ext cx="1783080" cy="468173"/>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Timed Entry לרכב בקיץ, 2026 [מאומת]</a:t>
            </a:r>
            <a:endParaRPr lang="en-US" sz="1200" dirty="0"/>
          </a:p>
        </p:txBody>
      </p:sp>
      <p:sp>
        <p:nvSpPr>
          <p:cNvPr id="15" name="Text 13"/>
          <p:cNvSpPr txBox="1"/>
          <p:nvPr/>
        </p:nvSpPr>
        <p:spPr>
          <a:xfrm>
            <a:off x="457200" y="2880360"/>
            <a:ext cx="8229600" cy="173736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הכביש מתחיל באזור יער ונגמר בטונדרה. הגובה והאקלים משתנים מאוד לאורך הדרך.</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תעריפים נוספים (2026): ילד (6–15) $8 · רכב עד 5 נוסעים $65 · לבדוק את תעריפי 2027 לפני הטיול.</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בפסגה יש Summit Visitor Center. מי שחש עייפות או כאב ראש בגובה צריך לרדת מיד.</a:t>
            </a:r>
            <a:endParaRPr lang="en-US" sz="1400" dirty="0"/>
          </a:p>
        </p:txBody>
      </p:sp>
      <p:sp>
        <p:nvSpPr>
          <p:cNvPr id="16" name="Text 1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drivepikespeak.com (Hours &amp; Rates), visitcos.com. התעריפים הם של 2026 בלבד.</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יערות, נחלים ומפלים בקרבת העיר</a:t>
            </a:r>
            <a:endParaRPr lang="en-US" sz="3200" dirty="0"/>
          </a:p>
        </p:txBody>
      </p:sp>
      <p:sp>
        <p:nvSpPr>
          <p:cNvPr id="3" name="Shape 1"/>
          <p:cNvSpPr/>
          <p:nvPr/>
        </p:nvSpPr>
        <p:spPr>
          <a:xfrm>
            <a:off x="457200" y="1188720"/>
            <a:ext cx="2606040" cy="2377440"/>
          </a:xfrm>
          <a:prstGeom prst="roundRect">
            <a:avLst>
              <a:gd name="adj" fmla="val 3077"/>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North Cheyenne Cañon</a:t>
            </a:r>
            <a:endParaRPr lang="en-US" sz="1500" dirty="0"/>
          </a:p>
        </p:txBody>
      </p:sp>
      <p:sp>
        <p:nvSpPr>
          <p:cNvPr id="5" name="Text 3"/>
          <p:cNvSpPr txBox="1"/>
          <p:nvPr/>
        </p:nvSpPr>
        <p:spPr>
          <a:xfrm>
            <a:off x="62179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קניון יער ונחל. השבילים (כולל Seven Bridges, שנקרא על שם חציות הנחל) עוברים בין סלעים, עצים ומים.</a:t>
            </a:r>
            <a:endParaRPr lang="en-US" sz="1250" dirty="0"/>
          </a:p>
        </p:txBody>
      </p:sp>
      <p:sp>
        <p:nvSpPr>
          <p:cNvPr id="6" name="Shape 4"/>
          <p:cNvSpPr/>
          <p:nvPr/>
        </p:nvSpPr>
        <p:spPr>
          <a:xfrm>
            <a:off x="3268980" y="1188720"/>
            <a:ext cx="2606040" cy="2377440"/>
          </a:xfrm>
          <a:prstGeom prst="roundRect">
            <a:avLst>
              <a:gd name="adj" fmla="val 3077"/>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Helen Hunt Falls</a:t>
            </a:r>
            <a:endParaRPr lang="en-US" sz="1500" dirty="0"/>
          </a:p>
        </p:txBody>
      </p:sp>
      <p:sp>
        <p:nvSpPr>
          <p:cNvPr id="8" name="Text 6"/>
          <p:cNvSpPr txBox="1"/>
          <p:nvPr/>
        </p:nvSpPr>
        <p:spPr>
          <a:xfrm>
            <a:off x="343357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מפל שניתן להגיע אליו מהקניון. מתאים לחלק המשפחתי של היום, בהתאם למצב המים בעונה.</a:t>
            </a:r>
            <a:endParaRPr lang="en-US" sz="1250" dirty="0"/>
          </a:p>
        </p:txBody>
      </p:sp>
      <p:sp>
        <p:nvSpPr>
          <p:cNvPr id="9" name="Shape 7"/>
          <p:cNvSpPr/>
          <p:nvPr/>
        </p:nvSpPr>
        <p:spPr>
          <a:xfrm>
            <a:off x="6080760" y="1188720"/>
            <a:ext cx="2606040" cy="2377440"/>
          </a:xfrm>
          <a:prstGeom prst="roundRect">
            <a:avLst>
              <a:gd name="adj" fmla="val 3077"/>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יער מחטני</a:t>
            </a:r>
            <a:endParaRPr lang="en-US" sz="1500" dirty="0"/>
          </a:p>
        </p:txBody>
      </p:sp>
      <p:sp>
        <p:nvSpPr>
          <p:cNvPr id="11" name="Text 9"/>
          <p:cNvSpPr txBox="1"/>
          <p:nvPr/>
        </p:nvSpPr>
        <p:spPr>
          <a:xfrm>
            <a:off x="6245352" y="1737360"/>
            <a:ext cx="2276856" cy="17190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עצי פונדרוסה ודאגלס-אשוחית במדרונות הנמוכים, ועצי אספן לאורך הנחלים. בגובה מופיעה צמחייה אופיינית ל-Montane.</a:t>
            </a:r>
            <a:endParaRPr lang="en-US" sz="1250" dirty="0"/>
          </a:p>
        </p:txBody>
      </p:sp>
      <p:sp>
        <p:nvSpPr>
          <p:cNvPr id="12" name="Text 10"/>
          <p:cNvSpPr txBox="1"/>
          <p:nvPr/>
        </p:nvSpPr>
        <p:spPr>
          <a:xfrm>
            <a:off x="457200" y="3840480"/>
            <a:ext cx="8229600" cy="640080"/>
          </a:xfrm>
          <a:prstGeom prst="rect">
            <a:avLst/>
          </a:prstGeom>
          <a:noFill/>
          <a:ln/>
        </p:spPr>
        <p:txBody>
          <a:bodyPr wrap="square" lIns="0" tIns="0" rIns="0" bIns="0" rtlCol="0" anchor="ctr"/>
          <a:lstStyle/>
          <a:p>
            <a:pPr rtl="1" algn="r" indent="0" marL="0">
              <a:buNone/>
            </a:pPr>
            <a:r>
              <a:rPr lang="en-US" sz="1300" i="1" dirty="0">
                <a:solidFill>
                  <a:srgbClr val="5A625E"/>
                </a:solidFill>
                <a:latin typeface="Calibri" pitchFamily="34" charset="0"/>
                <a:ea typeface="Calibri" pitchFamily="34" charset="-122"/>
                <a:cs typeface="Calibri" pitchFamily="34" charset="-120"/>
              </a:rPr>
              <a:t>מסלולי הקניון: אורך, הפרש גובה וזמן הליכה לא נאספו במחקר זה. לפני היציאה יש לבדוק במקור הרשמי של Pike National Forest.</a:t>
            </a:r>
            <a:endParaRPr lang="en-US" sz="1300" dirty="0"/>
          </a:p>
        </p:txBody>
      </p:sp>
      <p:sp>
        <p:nvSpPr>
          <p:cNvPr id="13" name="Text 1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 Pike National Forest / ידע שטח כללי. מספר החציות של Seven Bridges לא נבדק מול מקור רשמי [לאימות].</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העמק מול הפסגה: אותו אזור, שני עולמות</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2926080"/>
                <a:gridCol w="3200400"/>
              </a:tblGrid>
              <a:tr h="548640">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מאפיין</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בסיס העיר (נמוך)</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פסגת Pikes Peak (גבוה)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54864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גובה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כ-6,000 רגל [לאימות]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14,115 רגל [מאומת]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54864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צמחייה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יער פונדרוסה, שיחייה וצוקים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טונדרה, שיחים זוחלים, חזזיות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54864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טמפרטורה באוגוסט</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חמה ביום ונוחה בערב</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קרה מאוד, רוחות חזקות, ללא הבדל עונתי רב</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54864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סיכון מרכזי</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חום ושמש</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מחלת גבהים, היפותרמיה, ברקים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54864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מה רואים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סלעים אדומים, יער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נוף רחב של רכסים וטונדרה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הגובה של העיר משתנה לפי השכונה; הערך המוצג הוא הערך הכללי המקובל [לאימות]. שאר הנתונים: NPS, Pikes Peak, ידע כללי.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תוכנית Colorado Springs: 4 ימים</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57200"/>
                <a:gridCol w="2377440"/>
                <a:gridCol w="914400"/>
                <a:gridCol w="1188720"/>
                <a:gridCol w="1005840"/>
                <a:gridCol w="914400"/>
                <a:gridCol w="1371600"/>
              </a:tblGrid>
              <a:tr h="640080">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יום</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מיקוד</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מרחק</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הפרש גובה</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קושי</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זמן</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100" b="1" dirty="0">
                          <a:solidFill>
                            <a:srgbClr val="FFFFFF"/>
                          </a:solidFill>
                          <a:latin typeface="Calibri" pitchFamily="34" charset="0"/>
                          <a:ea typeface="Calibri" pitchFamily="34" charset="-122"/>
                          <a:cs typeface="Calibri" pitchFamily="34" charset="-120"/>
                        </a:rPr>
                        <a:t>מה מיוחד</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640080">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הגעה והסתגלות · Garden of the Gods</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קל</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צוקי סלע אדום, יום נמוך לפני העליה</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640080">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North Cheyenne Cañon · Seven Bridges</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בינוני</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יער, נחל ומפל; מסלול בבוקר</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640080">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Pikes Peak Highway · פסגה</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19 mi כביש</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עד 14,115 רגל</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מאתגר לגובה</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חצי יום</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לרדת לפני סופה מאוחרת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640080">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גמישות · Manitou Springs / Helen Hunt Falls</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קל</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[לאימות]</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100" dirty="0">
                          <a:solidFill>
                            <a:srgbClr val="1E2421"/>
                          </a:solidFill>
                          <a:latin typeface="Calibri" pitchFamily="34" charset="0"/>
                          <a:ea typeface="Calibri" pitchFamily="34" charset="-122"/>
                          <a:cs typeface="Calibri" pitchFamily="34" charset="-120"/>
                        </a:rPr>
                        <a:t>יום חיץ לשינויי מזג אוויר</a:t>
                      </a:r>
                      <a:endParaRPr lang="en-US" sz="11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מרחקים והפרשי גובה להליכה טרם נאספו ממקור רשמי. ביום 3 הערך הוא של הכביש ולא של מסלול הליכה. כל הערכים [לאימות] לפני השלמת התכנון.</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E26"/>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1188720"/>
          </a:xfrm>
          <a:prstGeom prst="rect">
            <a:avLst/>
          </a:prstGeom>
          <a:noFill/>
          <a:ln/>
        </p:spPr>
        <p:txBody>
          <a:bodyPr wrap="square" lIns="0" tIns="0" rIns="0" bIns="0" rtlCol="0" anchor="ctr"/>
          <a:lstStyle/>
          <a:p>
            <a:pPr algn="r" indent="0" marL="0">
              <a:buNone/>
            </a:pPr>
            <a:r>
              <a:rPr lang="en-US" sz="8000" b="1" dirty="0">
                <a:solidFill>
                  <a:srgbClr val="8DB06B"/>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457200" y="2377440"/>
            <a:ext cx="8229600" cy="822960"/>
          </a:xfrm>
          <a:prstGeom prst="rect">
            <a:avLst/>
          </a:prstGeom>
          <a:noFill/>
          <a:ln/>
        </p:spPr>
        <p:txBody>
          <a:bodyPr wrap="square" lIns="0" tIns="0" rIns="0" bIns="0" rtlCol="0" anchor="ctr"/>
          <a:lstStyle/>
          <a:p>
            <a:pPr rtl="1" algn="r" indent="0" marL="0">
              <a:buNone/>
            </a:pPr>
            <a:r>
              <a:rPr lang="en-US" sz="4000" b="1" dirty="0">
                <a:solidFill>
                  <a:srgbClr val="FFFFFF"/>
                </a:solidFill>
                <a:latin typeface="Cambria" pitchFamily="34" charset="0"/>
                <a:ea typeface="Cambria" pitchFamily="34" charset="-122"/>
                <a:cs typeface="Cambria" pitchFamily="34" charset="-120"/>
              </a:rPr>
              <a:t>San Juan Mountains</a:t>
            </a:r>
            <a:endParaRPr lang="en-US" sz="4000" dirty="0"/>
          </a:p>
        </p:txBody>
      </p:sp>
      <p:sp>
        <p:nvSpPr>
          <p:cNvPr id="4" name="Text 2"/>
          <p:cNvSpPr txBox="1"/>
          <p:nvPr/>
        </p:nvSpPr>
        <p:spPr>
          <a:xfrm>
            <a:off x="457200" y="3291840"/>
            <a:ext cx="8229600" cy="548640"/>
          </a:xfrm>
          <a:prstGeom prst="rect">
            <a:avLst/>
          </a:prstGeom>
          <a:noFill/>
          <a:ln/>
        </p:spPr>
        <p:txBody>
          <a:bodyPr wrap="square" lIns="0" tIns="0" rIns="0" bIns="0" rtlCol="0" anchor="ctr"/>
          <a:lstStyle/>
          <a:p>
            <a:pPr rtl="1" algn="r" indent="0" marL="0">
              <a:buNone/>
            </a:pPr>
            <a:r>
              <a:rPr lang="en-US" sz="1800" dirty="0">
                <a:solidFill>
                  <a:srgbClr val="C9D6CE"/>
                </a:solidFill>
                <a:latin typeface="Calibri" pitchFamily="34" charset="0"/>
                <a:ea typeface="Calibri" pitchFamily="34" charset="-122"/>
                <a:cs typeface="Calibri" pitchFamily="34" charset="-120"/>
              </a:rPr>
              <a:t>הרכס המרוחק, הקרחונים והאגמים הטורקיז</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גאולוגיה: הר געש וקרחונים</a:t>
            </a:r>
            <a:endParaRPr lang="en-US" sz="3200" dirty="0"/>
          </a:p>
        </p:txBody>
      </p:sp>
      <p:sp>
        <p:nvSpPr>
          <p:cNvPr id="3" name="Text 1"/>
          <p:cNvSpPr txBox="1"/>
          <p:nvPr/>
        </p:nvSpPr>
        <p:spPr>
          <a:xfrm>
            <a:off x="457200" y="1188720"/>
            <a:ext cx="8229600" cy="3108960"/>
          </a:xfrm>
          <a:prstGeom prst="rect">
            <a:avLst/>
          </a:prstGeom>
          <a:noFill/>
          <a:ln/>
        </p:spPr>
        <p:txBody>
          <a:bodyPr wrap="square" lIns="0" tIns="0" rIns="0" bIns="0" rtlCol="0" anchor="t"/>
          <a:lstStyle/>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רוב הסלע של ה-San Juan הוא סלע געשי מתקופת השלישוני (Oligocene). הנוף הנוכחי נוצר כשנשחק והתפתח סביב הגעש הקדום.</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הקרחונים של תקופת הקרח האחרונה חתכו עמקים רחבים בצורת U, יצרו מעגלי קרח (Cirques) וחפרו את האגמים האלפיניים.</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הרכסים החדים והמדרונות התלולים הם שריד של פעילות קרחונית, ולכן שביל אחד יכול לעבור בין עמק רחב לאגם תלוי בלי מעבר מדורג.</a:t>
            </a:r>
            <a:endParaRPr lang="en-US" sz="1500" dirty="0"/>
          </a:p>
        </p:txBody>
      </p:sp>
      <p:sp>
        <p:nvSpPr>
          <p:cNvPr id="4" name="Text 2"/>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רקע גיאולוגי כללי: USGS / San Juan National Forest. ההבחנה המדויקת בין הרכבי הסלע לא נבדקה במחקר זה [לאימות מול USGS].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שלוש עיירות, כביש אחד ומחוז של הרים</a:t>
            </a:r>
            <a:endParaRPr lang="en-US" sz="3200" dirty="0"/>
          </a:p>
        </p:txBody>
      </p:sp>
      <p:sp>
        <p:nvSpPr>
          <p:cNvPr id="3" name="Shape 1"/>
          <p:cNvSpPr/>
          <p:nvPr/>
        </p:nvSpPr>
        <p:spPr>
          <a:xfrm>
            <a:off x="457200" y="1188720"/>
            <a:ext cx="4206240" cy="3291840"/>
          </a:xfrm>
          <a:prstGeom prst="rect">
            <a:avLst/>
          </a:prstGeom>
          <a:solidFill>
            <a:srgbClr val="E6ECE4"/>
          </a:solidFill>
          <a:ln w="12700">
            <a:solidFill>
              <a:srgbClr val="8A958E"/>
            </a:solidFill>
            <a:prstDash val="solid"/>
          </a:ln>
        </p:spPr>
      </p:sp>
      <p:sp>
        <p:nvSpPr>
          <p:cNvPr id="4" name="Shape 2"/>
          <p:cNvSpPr/>
          <p:nvPr/>
        </p:nvSpPr>
        <p:spPr>
          <a:xfrm flipV="1">
            <a:off x="1737360" y="2011680"/>
            <a:ext cx="1371600" cy="1188720"/>
          </a:xfrm>
          <a:prstGeom prst="line">
            <a:avLst/>
          </a:prstGeom>
          <a:noFill/>
          <a:ln w="25400">
            <a:solidFill>
              <a:srgbClr val="B5651D"/>
            </a:solidFill>
            <a:prstDash val="solid"/>
          </a:ln>
        </p:spPr>
      </p:sp>
      <p:sp>
        <p:nvSpPr>
          <p:cNvPr id="5" name="Shape 3"/>
          <p:cNvSpPr/>
          <p:nvPr/>
        </p:nvSpPr>
        <p:spPr>
          <a:xfrm>
            <a:off x="1097280" y="2011680"/>
            <a:ext cx="640080" cy="1188720"/>
          </a:xfrm>
          <a:prstGeom prst="line">
            <a:avLst/>
          </a:prstGeom>
          <a:noFill/>
          <a:ln w="25400">
            <a:solidFill>
              <a:srgbClr val="6E757C"/>
            </a:solidFill>
            <a:prstDash val="dash"/>
          </a:ln>
        </p:spPr>
      </p:sp>
      <p:sp>
        <p:nvSpPr>
          <p:cNvPr id="6" name="Shape 4"/>
          <p:cNvSpPr/>
          <p:nvPr/>
        </p:nvSpPr>
        <p:spPr>
          <a:xfrm>
            <a:off x="1636776" y="3099816"/>
            <a:ext cx="201168" cy="201168"/>
          </a:xfrm>
          <a:prstGeom prst="ellipse">
            <a:avLst/>
          </a:prstGeom>
          <a:solidFill>
            <a:srgbClr val="2C7A9B"/>
          </a:solidFill>
          <a:ln w="12700">
            <a:solidFill>
              <a:srgbClr val="FFFFFF"/>
            </a:solidFill>
            <a:prstDash val="solid"/>
          </a:ln>
        </p:spPr>
      </p:sp>
      <p:sp>
        <p:nvSpPr>
          <p:cNvPr id="7" name="Shape 5"/>
          <p:cNvSpPr/>
          <p:nvPr/>
        </p:nvSpPr>
        <p:spPr>
          <a:xfrm>
            <a:off x="3008376" y="1911096"/>
            <a:ext cx="201168" cy="201168"/>
          </a:xfrm>
          <a:prstGeom prst="ellipse">
            <a:avLst/>
          </a:prstGeom>
          <a:solidFill>
            <a:srgbClr val="2C7A9B"/>
          </a:solidFill>
          <a:ln w="12700">
            <a:solidFill>
              <a:srgbClr val="FFFFFF"/>
            </a:solidFill>
            <a:prstDash val="solid"/>
          </a:ln>
        </p:spPr>
      </p:sp>
      <p:sp>
        <p:nvSpPr>
          <p:cNvPr id="8" name="Shape 6"/>
          <p:cNvSpPr/>
          <p:nvPr/>
        </p:nvSpPr>
        <p:spPr>
          <a:xfrm>
            <a:off x="996696" y="1911096"/>
            <a:ext cx="201168" cy="201168"/>
          </a:xfrm>
          <a:prstGeom prst="ellipse">
            <a:avLst/>
          </a:prstGeom>
          <a:solidFill>
            <a:srgbClr val="2C7A9B"/>
          </a:solidFill>
          <a:ln w="12700">
            <a:solidFill>
              <a:srgbClr val="FFFFFF"/>
            </a:solidFill>
            <a:prstDash val="solid"/>
          </a:ln>
        </p:spPr>
      </p:sp>
      <p:sp>
        <p:nvSpPr>
          <p:cNvPr id="9" name="Text 7"/>
          <p:cNvSpPr txBox="1"/>
          <p:nvPr/>
        </p:nvSpPr>
        <p:spPr>
          <a:xfrm>
            <a:off x="914400" y="3273552"/>
            <a:ext cx="731520" cy="274320"/>
          </a:xfrm>
          <a:prstGeom prst="rect">
            <a:avLst/>
          </a:prstGeom>
          <a:noFill/>
          <a:ln/>
        </p:spPr>
        <p:txBody>
          <a:bodyPr wrap="square" lIns="0" tIns="0" rIns="0" bIns="0" rtlCol="0" anchor="ctr"/>
          <a:lstStyle/>
          <a:p>
            <a:pPr algn="r" indent="0" marL="0">
              <a:buNone/>
            </a:pPr>
            <a:r>
              <a:rPr lang="en-US" sz="1200" b="1" dirty="0">
                <a:solidFill>
                  <a:srgbClr val="1E2421"/>
                </a:solidFill>
                <a:latin typeface="Calibri" pitchFamily="34" charset="0"/>
                <a:ea typeface="Calibri" pitchFamily="34" charset="-122"/>
                <a:cs typeface="Calibri" pitchFamily="34" charset="-120"/>
              </a:rPr>
              <a:t>Ouray</a:t>
            </a:r>
            <a:endParaRPr lang="en-US" sz="1200" dirty="0"/>
          </a:p>
        </p:txBody>
      </p:sp>
      <p:sp>
        <p:nvSpPr>
          <p:cNvPr id="10" name="Text 8"/>
          <p:cNvSpPr txBox="1"/>
          <p:nvPr/>
        </p:nvSpPr>
        <p:spPr>
          <a:xfrm>
            <a:off x="3218688" y="1883664"/>
            <a:ext cx="1005840" cy="274320"/>
          </a:xfrm>
          <a:prstGeom prst="rect">
            <a:avLst/>
          </a:prstGeom>
          <a:noFill/>
          <a:ln/>
        </p:spPr>
        <p:txBody>
          <a:bodyPr wrap="square" lIns="0" tIns="0" rIns="0" bIns="0" rtlCol="0" anchor="ctr"/>
          <a:lstStyle/>
          <a:p>
            <a:pPr indent="0" marL="0">
              <a:buNone/>
            </a:pPr>
            <a:r>
              <a:rPr lang="en-US" sz="1200" b="1" dirty="0">
                <a:solidFill>
                  <a:srgbClr val="1E2421"/>
                </a:solidFill>
                <a:latin typeface="Calibri" pitchFamily="34" charset="0"/>
                <a:ea typeface="Calibri" pitchFamily="34" charset="-122"/>
                <a:cs typeface="Calibri" pitchFamily="34" charset="-120"/>
              </a:rPr>
              <a:t>Silverton</a:t>
            </a:r>
            <a:endParaRPr lang="en-US" sz="1200" dirty="0"/>
          </a:p>
        </p:txBody>
      </p:sp>
      <p:sp>
        <p:nvSpPr>
          <p:cNvPr id="11" name="Text 9"/>
          <p:cNvSpPr txBox="1"/>
          <p:nvPr/>
        </p:nvSpPr>
        <p:spPr>
          <a:xfrm>
            <a:off x="274320" y="1883664"/>
            <a:ext cx="777240" cy="274320"/>
          </a:xfrm>
          <a:prstGeom prst="rect">
            <a:avLst/>
          </a:prstGeom>
          <a:noFill/>
          <a:ln/>
        </p:spPr>
        <p:txBody>
          <a:bodyPr wrap="square" lIns="0" tIns="0" rIns="0" bIns="0" rtlCol="0" anchor="ctr"/>
          <a:lstStyle/>
          <a:p>
            <a:pPr algn="r" indent="0" marL="0">
              <a:buNone/>
            </a:pPr>
            <a:r>
              <a:rPr lang="en-US" sz="1200" b="1" dirty="0">
                <a:solidFill>
                  <a:srgbClr val="1E2421"/>
                </a:solidFill>
                <a:latin typeface="Calibri" pitchFamily="34" charset="0"/>
                <a:ea typeface="Calibri" pitchFamily="34" charset="-122"/>
                <a:cs typeface="Calibri" pitchFamily="34" charset="-120"/>
              </a:rPr>
              <a:t>Telluride</a:t>
            </a:r>
            <a:endParaRPr lang="en-US" sz="1200" dirty="0"/>
          </a:p>
        </p:txBody>
      </p:sp>
      <p:sp>
        <p:nvSpPr>
          <p:cNvPr id="12" name="Text 10"/>
          <p:cNvSpPr txBox="1"/>
          <p:nvPr/>
        </p:nvSpPr>
        <p:spPr>
          <a:xfrm>
            <a:off x="2011680" y="2423160"/>
            <a:ext cx="2377440" cy="274320"/>
          </a:xfrm>
          <a:prstGeom prst="rect">
            <a:avLst/>
          </a:prstGeom>
          <a:noFill/>
          <a:ln/>
        </p:spPr>
        <p:txBody>
          <a:bodyPr wrap="square" lIns="0" tIns="0" rIns="0" bIns="0" rtlCol="0" anchor="ctr"/>
          <a:lstStyle/>
          <a:p>
            <a:pPr indent="0" marL="0">
              <a:buNone/>
            </a:pPr>
            <a:r>
              <a:rPr lang="en-US" sz="1000" i="1" dirty="0">
                <a:solidFill>
                  <a:srgbClr val="B5651D"/>
                </a:solidFill>
                <a:latin typeface="Calibri" pitchFamily="34" charset="0"/>
                <a:ea typeface="Calibri" pitchFamily="34" charset="-122"/>
                <a:cs typeface="Calibri" pitchFamily="34" charset="-120"/>
              </a:rPr>
              <a:t>25 mi · US 550 (Million Dollar Highway)</a:t>
            </a:r>
            <a:endParaRPr lang="en-US" sz="1000" dirty="0"/>
          </a:p>
        </p:txBody>
      </p:sp>
      <p:sp>
        <p:nvSpPr>
          <p:cNvPr id="13" name="Text 11"/>
          <p:cNvSpPr txBox="1"/>
          <p:nvPr/>
        </p:nvSpPr>
        <p:spPr>
          <a:xfrm>
            <a:off x="548640" y="4160520"/>
            <a:ext cx="2743200" cy="256032"/>
          </a:xfrm>
          <a:prstGeom prst="rect">
            <a:avLst/>
          </a:prstGeom>
          <a:noFill/>
          <a:ln/>
        </p:spPr>
        <p:txBody>
          <a:bodyPr wrap="square" lIns="0" tIns="0" rIns="0" bIns="0" rtlCol="0" anchor="ctr"/>
          <a:lstStyle/>
          <a:p>
            <a:pPr indent="0" marL="0">
              <a:buNone/>
            </a:pPr>
            <a:r>
              <a:rPr lang="en-US" sz="1000" i="1" dirty="0">
                <a:solidFill>
                  <a:srgbClr val="5A625E"/>
                </a:solidFill>
                <a:latin typeface="Calibri" pitchFamily="34" charset="0"/>
                <a:ea typeface="Calibri" pitchFamily="34" charset="-122"/>
                <a:cs typeface="Calibri" pitchFamily="34" charset="-120"/>
              </a:rPr>
              <a:t>מפה סכמטית, לא בקנה מידה</a:t>
            </a:r>
            <a:endParaRPr lang="en-US" sz="1000" dirty="0"/>
          </a:p>
        </p:txBody>
      </p:sp>
      <p:sp>
        <p:nvSpPr>
          <p:cNvPr id="14" name="Text 12"/>
          <p:cNvSpPr txBox="1"/>
          <p:nvPr/>
        </p:nvSpPr>
        <p:spPr>
          <a:xfrm>
            <a:off x="4937760" y="1188720"/>
            <a:ext cx="3749040" cy="3291840"/>
          </a:xfrm>
          <a:prstGeom prst="rect">
            <a:avLst/>
          </a:prstGeom>
          <a:noFill/>
          <a:ln/>
        </p:spPr>
        <p:txBody>
          <a:bodyPr wrap="square" lIns="0" tIns="0" rIns="0" bIns="0" rtlCol="0" anchor="t"/>
          <a:lstStyle/>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Ouray ו-Silverton מחוברות ע"י US 550, שהוא הקטע הידוע בשם Million Dollar Highway: כ-25 מייל לאורך מעברים גבוהים.</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Telluride נמצאת בצד המערבי. הדרך אליה ומשכי הנסיעות בין שלוש העיירות טרם נבדקו [לאימות].</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מסלול ה-San Juan Skyway, לולאה של כ-236 מייל, מתואר ב-CDOT כנסיעה של כ-6 שעות.</a:t>
            </a:r>
            <a:endParaRPr lang="en-US" sz="1350" dirty="0"/>
          </a:p>
        </p:txBody>
      </p:sp>
      <p:sp>
        <p:nvSpPr>
          <p:cNvPr id="15" name="Text 13"/>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visitouray.com (25 מייל), CDOT San Juan Skyway (236 מייל, 6 שעות), מיקומים סכמטיים. זמני נסיעה בין Telluride ל-Ouray/Silverton: [לאימות].</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האגמים: שלושה מקומות, שלוש חוויות</a:t>
            </a:r>
            <a:endParaRPr lang="en-US" sz="3200" dirty="0"/>
          </a:p>
        </p:txBody>
      </p:sp>
      <p:sp>
        <p:nvSpPr>
          <p:cNvPr id="3" name="Shape 1"/>
          <p:cNvSpPr/>
          <p:nvPr/>
        </p:nvSpPr>
        <p:spPr>
          <a:xfrm>
            <a:off x="457200" y="1188720"/>
            <a:ext cx="2606040" cy="2560320"/>
          </a:xfrm>
          <a:prstGeom prst="roundRect">
            <a:avLst>
              <a:gd name="adj" fmla="val 2857"/>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Ice Lake</a:t>
            </a:r>
            <a:endParaRPr lang="en-US" sz="1500" dirty="0"/>
          </a:p>
        </p:txBody>
      </p:sp>
      <p:sp>
        <p:nvSpPr>
          <p:cNvPr id="5" name="Text 3"/>
          <p:cNvSpPr txBox="1"/>
          <p:nvPr/>
        </p:nvSpPr>
        <p:spPr>
          <a:xfrm>
            <a:off x="621792" y="1737360"/>
            <a:ext cx="2276856" cy="190195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אגם בתוך Ice Lake Basin. נקודה מרבית של השביל 12,260 רגל לפי ה-USFS. אחד המסלולים הפופולריים ביותר באזור.</a:t>
            </a:r>
            <a:endParaRPr lang="en-US" sz="1250" dirty="0"/>
          </a:p>
        </p:txBody>
      </p:sp>
      <p:sp>
        <p:nvSpPr>
          <p:cNvPr id="6" name="Shape 4"/>
          <p:cNvSpPr/>
          <p:nvPr/>
        </p:nvSpPr>
        <p:spPr>
          <a:xfrm>
            <a:off x="3268980" y="1188720"/>
            <a:ext cx="2606040" cy="2560320"/>
          </a:xfrm>
          <a:prstGeom prst="roundRect">
            <a:avLst>
              <a:gd name="adj" fmla="val 2857"/>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Lower Blue Lake</a:t>
            </a:r>
            <a:endParaRPr lang="en-US" sz="1500" dirty="0"/>
          </a:p>
        </p:txBody>
      </p:sp>
      <p:sp>
        <p:nvSpPr>
          <p:cNvPr id="8" name="Text 6"/>
          <p:cNvSpPr txBox="1"/>
          <p:nvPr/>
        </p:nvSpPr>
        <p:spPr>
          <a:xfrm>
            <a:off x="3433572" y="1737360"/>
            <a:ext cx="2276856" cy="190195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האגם התחתון בשביל Blue Lakes, בגובה 10,920–10,980 רגל (טווח בין מקורות). נקודת יעד מרכזית למשפחה.</a:t>
            </a:r>
            <a:endParaRPr lang="en-US" sz="1250" dirty="0"/>
          </a:p>
        </p:txBody>
      </p:sp>
      <p:sp>
        <p:nvSpPr>
          <p:cNvPr id="9" name="Shape 7"/>
          <p:cNvSpPr/>
          <p:nvPr/>
        </p:nvSpPr>
        <p:spPr>
          <a:xfrm>
            <a:off x="6080760" y="1188720"/>
            <a:ext cx="2606040" cy="2560320"/>
          </a:xfrm>
          <a:prstGeom prst="roundRect">
            <a:avLst>
              <a:gd name="adj" fmla="val 2857"/>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Upper Blue Lake</a:t>
            </a:r>
            <a:endParaRPr lang="en-US" sz="1500" dirty="0"/>
          </a:p>
        </p:txBody>
      </p:sp>
      <p:sp>
        <p:nvSpPr>
          <p:cNvPr id="11" name="Text 9"/>
          <p:cNvSpPr txBox="1"/>
          <p:nvPr/>
        </p:nvSpPr>
        <p:spPr>
          <a:xfrm>
            <a:off x="6245352" y="1737360"/>
            <a:ext cx="2276856" cy="190195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האגם העליון, בגובה כ-12,392 רגל לפי SJMA. ממשיכים אליו מ-Lower Blue Lake, ומהמעבר של Blue Lakes Pass המשך לגבוה יותר.</a:t>
            </a:r>
            <a:endParaRPr lang="en-US" sz="1250" dirty="0"/>
          </a:p>
        </p:txBody>
      </p:sp>
      <p:sp>
        <p:nvSpPr>
          <p:cNvPr id="12" name="Text 10"/>
          <p:cNvSpPr txBox="1"/>
          <p:nvPr/>
        </p:nvSpPr>
        <p:spPr>
          <a:xfrm>
            <a:off x="457200" y="3931920"/>
            <a:ext cx="8229600" cy="548640"/>
          </a:xfrm>
          <a:prstGeom prst="rect">
            <a:avLst/>
          </a:prstGeom>
          <a:noFill/>
          <a:ln/>
        </p:spPr>
        <p:txBody>
          <a:bodyPr wrap="square" lIns="0" tIns="0" rIns="0" bIns="0" rtlCol="0" anchor="ctr"/>
          <a:lstStyle/>
          <a:p>
            <a:pPr rtl="1" algn="r" indent="0" marL="0">
              <a:buNone/>
            </a:pPr>
            <a:r>
              <a:rPr lang="en-US" sz="1300" i="1" dirty="0">
                <a:solidFill>
                  <a:srgbClr val="B5651D"/>
                </a:solidFill>
                <a:latin typeface="Calibri" pitchFamily="34" charset="0"/>
                <a:ea typeface="Calibri" pitchFamily="34" charset="-122"/>
                <a:cs typeface="Calibri" pitchFamily="34" charset="-120"/>
              </a:rPr>
              <a:t>Island Lake: מופיע בשם המסלול 'Ice &amp; Island Lake Trail' אבל הפרטים שלו לא נבדקו במחקר זה. אין לכתוב עליו עובדות עד לאימות במקור של ה-USFS.</a:t>
            </a:r>
            <a:endParaRPr lang="en-US" sz="1300" dirty="0"/>
          </a:p>
        </p:txBody>
      </p:sp>
      <p:sp>
        <p:nvSpPr>
          <p:cNvPr id="13" name="Text 1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San Juan Mountains Association (sjma.org), San Juan National Forest (Ice Lake). הערכים לגובה Lower Blue Lake משתנים בין מקורות.</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Ice Lake Basin: מסלול בבוקר, נוף בשיא</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840480"/>
                <a:gridCol w="2011680"/>
                <a:gridCol w="2377440"/>
              </a:tblGrid>
              <a:tr h="402336">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נתון</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ערך</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סטטוס</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נקודת התחלה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9,840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[מאומת] SJMA, USFS</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Lower Ice Lake (כ-2 מייל מנקודת ההתחלה)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11,510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[מאומת] SJMA</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Ice Lake (נקודת יעד)</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כ-12,000+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[טווח] לפי מקורות שונים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נקודה מרבית לאורך השביל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12,260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[מאומת] USFS</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אורך (הליכה הלוך ושוב)</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8.7–8.8 מייל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[טווח] AllTrails, SJMA ואחרים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02336">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הפרש גובה מצטבר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כ-2,400–2,900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[טווח] תלוי במקור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320040"/>
          </a:xfrm>
          <a:prstGeom prst="rect">
            <a:avLst/>
          </a:prstGeom>
          <a:noFill/>
          <a:ln/>
        </p:spPr>
        <p:txBody>
          <a:bodyPr wrap="square" lIns="0" tIns="0" rIns="0" bIns="0" rtlCol="0" anchor="ctr"/>
          <a:lstStyle/>
          <a:p>
            <a:pPr rtl="1" algn="r" indent="0" marL="0">
              <a:buNone/>
            </a:pPr>
            <a:r>
              <a:rPr lang="en-US" sz="1300" dirty="0">
                <a:solidFill>
                  <a:srgbClr val="1E2421"/>
                </a:solidFill>
                <a:latin typeface="Calibri" pitchFamily="34" charset="0"/>
                <a:ea typeface="Calibri" pitchFamily="34" charset="-122"/>
                <a:cs typeface="Calibri" pitchFamily="34" charset="-120"/>
              </a:rPr>
              <a:t>מסלול בינוני עד מאתגר. בערך 62% מהמדרגים מסווגים אותו כקשה (AllTrails). מומלץ להתחיל מוקדם לפני סופות הרעמים.</a:t>
            </a:r>
            <a:endParaRPr lang="en-US" sz="1300" dirty="0"/>
          </a:p>
        </p:txBody>
      </p:sp>
      <p:sp>
        <p:nvSpPr>
          <p:cNvPr id="5" name="Text 2"/>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sjma.org/ice-lake-trip-planning, San Juan National Forest, alltrails.com. הטווחים נשארים כפי שמופיעים במקורות.</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Blue Lakes · Lower Blue Lake: לא אותו מקום</a:t>
            </a:r>
            <a:endParaRPr lang="en-US" sz="3200" dirty="0"/>
          </a:p>
        </p:txBody>
      </p:sp>
      <p:sp>
        <p:nvSpPr>
          <p:cNvPr id="3" name="Text 1"/>
          <p:cNvSpPr txBox="1"/>
          <p:nvPr/>
        </p:nvSpPr>
        <p:spPr>
          <a:xfrm>
            <a:off x="457200" y="1051560"/>
            <a:ext cx="8229600" cy="365760"/>
          </a:xfrm>
          <a:prstGeom prst="rect">
            <a:avLst/>
          </a:prstGeom>
          <a:noFill/>
          <a:ln/>
        </p:spPr>
        <p:txBody>
          <a:bodyPr wrap="square" lIns="0" tIns="0" rIns="0" bIns="0" rtlCol="0" anchor="ctr"/>
          <a:lstStyle/>
          <a:p>
            <a:pPr rtl="1" algn="r" indent="0" marL="0">
              <a:buNone/>
            </a:pPr>
            <a:r>
              <a:rPr lang="en-US" sz="1400" b="1" dirty="0">
                <a:solidFill>
                  <a:srgbClr val="2F5D46"/>
                </a:solidFill>
                <a:latin typeface="Calibri" pitchFamily="34" charset="0"/>
                <a:ea typeface="Calibri" pitchFamily="34" charset="-122"/>
                <a:cs typeface="Calibri" pitchFamily="34" charset="-120"/>
              </a:rPr>
              <a:t>Blue Lakes = מערכת השבילים והאגמים. Lower Blue Lake = האגם הראשון במערכת.</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194560"/>
                <a:gridCol w="2560320"/>
                <a:gridCol w="2011680"/>
                <a:gridCol w="1463040"/>
              </a:tblGrid>
              <a:tr h="411480">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נקודה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מרחק הלוך ושוב</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גובה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מקור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114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Lower Blue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6.3–6.5 מייל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10,920–10,980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[טווח] SJMA, Covered Bridge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114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Upper Blue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~8.2 מייל (לפי hikingwalking)</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12,392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[טווח] SJMA, hikingwalking</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114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Blue Lakes Pass</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~9 מייל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[לאימות]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[לאימות] SJMA</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1148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הפרש גובה מצטבר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1,590–2,440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תלוי ביעד</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[טווח] בין מקורות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840480"/>
            <a:ext cx="8229600" cy="731520"/>
          </a:xfrm>
          <a:prstGeom prst="rect">
            <a:avLst/>
          </a:prstGeom>
          <a:noFill/>
          <a:ln/>
        </p:spPr>
        <p:txBody>
          <a:bodyPr wrap="square" lIns="0" tIns="0" rIns="0" bIns="0" rtlCol="0" anchor="t"/>
          <a:lstStyle/>
          <a:p>
            <a:pPr rtl="1" algn="r" indent="0" marL="0">
              <a:buNone/>
            </a:pPr>
            <a:r>
              <a:rPr lang="en-US" sz="1300" dirty="0">
                <a:solidFill>
                  <a:srgbClr val="1E2421"/>
                </a:solidFill>
                <a:latin typeface="Calibri" pitchFamily="34" charset="0"/>
                <a:ea typeface="Calibri" pitchFamily="34" charset="-122"/>
                <a:cs typeface="Calibri" pitchFamily="34" charset="-120"/>
              </a:rPr>
              <a:t>ההבחנה: בדרך ל-Lower Blue Lake המסלול מתפצל. ענף אחד ממשיך ל-Middle ול-Upper Blue Lake ולמעבר. לכן יעד 'Lower' הוא נקודת חזרה נוחה למשפחה, ו'Upper' דורש כושר ומזג אוויר יציב יותר.</a:t>
            </a:r>
            <a:endParaRPr lang="en-US" sz="1300" dirty="0"/>
          </a:p>
        </p:txBody>
      </p:sp>
      <p:sp>
        <p:nvSpPr>
          <p:cNvPr id="6" name="Text 3"/>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sjma.org/blue-lakes, alltrails.com (Lower, Middle and Upper Blue Lakes), onxmaps.com, hikingwalking.com. ערכי הטווח משקפים מקורות שונים; לפני יציאה יש לאמת במפה.</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Million Dollar Highway: US 550</a:t>
            </a:r>
            <a:endParaRPr lang="en-US" sz="3200" dirty="0"/>
          </a:p>
        </p:txBody>
      </p:sp>
      <p:sp>
        <p:nvSpPr>
          <p:cNvPr id="3" name="Shape 1"/>
          <p:cNvSpPr/>
          <p:nvPr/>
        </p:nvSpPr>
        <p:spPr>
          <a:xfrm>
            <a:off x="457200" y="1188720"/>
            <a:ext cx="1920240" cy="1371600"/>
          </a:xfrm>
          <a:prstGeom prst="roundRect">
            <a:avLst>
              <a:gd name="adj" fmla="val 5333"/>
            </a:avLst>
          </a:prstGeom>
          <a:solidFill>
            <a:srgbClr val="EEF2EE"/>
          </a:solidFill>
          <a:ln w="6350">
            <a:solidFill>
              <a:srgbClr val="EEF2EE"/>
            </a:solidFill>
            <a:prstDash val="solid"/>
          </a:ln>
        </p:spPr>
      </p:sp>
      <p:sp>
        <p:nvSpPr>
          <p:cNvPr id="4" name="Text 2"/>
          <p:cNvSpPr txBox="1"/>
          <p:nvPr/>
        </p:nvSpPr>
        <p:spPr>
          <a:xfrm>
            <a:off x="594360" y="1371600"/>
            <a:ext cx="1645920" cy="685800"/>
          </a:xfrm>
          <a:prstGeom prst="rect">
            <a:avLst/>
          </a:prstGeom>
          <a:noFill/>
          <a:ln/>
        </p:spPr>
        <p:txBody>
          <a:bodyPr wrap="square" lIns="0" tIns="0" rIns="0" bIns="0" rtlCol="0" anchor="ctr"/>
          <a:lstStyle/>
          <a:p>
            <a:pPr algn="ctr" indent="0" marL="0">
              <a:buNone/>
            </a:pPr>
            <a:r>
              <a:rPr lang="en-US" sz="3400" b="1" dirty="0">
                <a:solidFill>
                  <a:srgbClr val="2F5D46"/>
                </a:solidFill>
                <a:latin typeface="Cambria" pitchFamily="34" charset="0"/>
                <a:ea typeface="Cambria" pitchFamily="34" charset="-122"/>
                <a:cs typeface="Cambria" pitchFamily="34" charset="-120"/>
              </a:rPr>
              <a:t>25 mi</a:t>
            </a:r>
            <a:endParaRPr lang="en-US" sz="3400" dirty="0"/>
          </a:p>
        </p:txBody>
      </p:sp>
      <p:sp>
        <p:nvSpPr>
          <p:cNvPr id="5" name="Text 3"/>
          <p:cNvSpPr txBox="1"/>
          <p:nvPr/>
        </p:nvSpPr>
        <p:spPr>
          <a:xfrm>
            <a:off x="5943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בין Ouray ל-Silverton</a:t>
            </a:r>
            <a:endParaRPr lang="en-US" sz="1200" dirty="0"/>
          </a:p>
        </p:txBody>
      </p:sp>
      <p:sp>
        <p:nvSpPr>
          <p:cNvPr id="6" name="Shape 4"/>
          <p:cNvSpPr/>
          <p:nvPr/>
        </p:nvSpPr>
        <p:spPr>
          <a:xfrm>
            <a:off x="2514600" y="1188720"/>
            <a:ext cx="1920240" cy="1371600"/>
          </a:xfrm>
          <a:prstGeom prst="roundRect">
            <a:avLst>
              <a:gd name="adj" fmla="val 5333"/>
            </a:avLst>
          </a:prstGeom>
          <a:solidFill>
            <a:srgbClr val="EEF2EE"/>
          </a:solidFill>
          <a:ln w="6350">
            <a:solidFill>
              <a:srgbClr val="EEF2EE"/>
            </a:solidFill>
            <a:prstDash val="solid"/>
          </a:ln>
        </p:spPr>
      </p:sp>
      <p:sp>
        <p:nvSpPr>
          <p:cNvPr id="7" name="Text 5"/>
          <p:cNvSpPr txBox="1"/>
          <p:nvPr/>
        </p:nvSpPr>
        <p:spPr>
          <a:xfrm>
            <a:off x="2651760" y="1371600"/>
            <a:ext cx="1645920" cy="685800"/>
          </a:xfrm>
          <a:prstGeom prst="rect">
            <a:avLst/>
          </a:prstGeom>
          <a:noFill/>
          <a:ln/>
        </p:spPr>
        <p:txBody>
          <a:bodyPr wrap="square" lIns="0" tIns="0" rIns="0" bIns="0" rtlCol="0" anchor="ctr"/>
          <a:lstStyle/>
          <a:p>
            <a:pPr algn="ctr" indent="0" marL="0">
              <a:buNone/>
            </a:pPr>
            <a:r>
              <a:rPr lang="en-US" sz="3400" b="1" dirty="0">
                <a:solidFill>
                  <a:srgbClr val="2C7A9B"/>
                </a:solidFill>
                <a:latin typeface="Cambria" pitchFamily="34" charset="0"/>
                <a:ea typeface="Cambria" pitchFamily="34" charset="-122"/>
                <a:cs typeface="Cambria" pitchFamily="34" charset="-120"/>
              </a:rPr>
              <a:t>11,018</a:t>
            </a:r>
            <a:endParaRPr lang="en-US" sz="3400" dirty="0"/>
          </a:p>
        </p:txBody>
      </p:sp>
      <p:sp>
        <p:nvSpPr>
          <p:cNvPr id="8" name="Text 6"/>
          <p:cNvSpPr txBox="1"/>
          <p:nvPr/>
        </p:nvSpPr>
        <p:spPr>
          <a:xfrm>
            <a:off x="26517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Red Mountain Pass</a:t>
            </a:r>
            <a:endParaRPr lang="en-US" sz="1200" dirty="0"/>
          </a:p>
        </p:txBody>
      </p:sp>
      <p:sp>
        <p:nvSpPr>
          <p:cNvPr id="9" name="Shape 7"/>
          <p:cNvSpPr/>
          <p:nvPr/>
        </p:nvSpPr>
        <p:spPr>
          <a:xfrm>
            <a:off x="4572000" y="1188720"/>
            <a:ext cx="1920240" cy="1371600"/>
          </a:xfrm>
          <a:prstGeom prst="roundRect">
            <a:avLst>
              <a:gd name="adj" fmla="val 5333"/>
            </a:avLst>
          </a:prstGeom>
          <a:solidFill>
            <a:srgbClr val="EEF2EE"/>
          </a:solidFill>
          <a:ln w="6350">
            <a:solidFill>
              <a:srgbClr val="EEF2EE"/>
            </a:solidFill>
            <a:prstDash val="solid"/>
          </a:ln>
        </p:spPr>
      </p:sp>
      <p:sp>
        <p:nvSpPr>
          <p:cNvPr id="10" name="Text 8"/>
          <p:cNvSpPr txBox="1"/>
          <p:nvPr/>
        </p:nvSpPr>
        <p:spPr>
          <a:xfrm>
            <a:off x="4709160" y="1371600"/>
            <a:ext cx="1645920" cy="685800"/>
          </a:xfrm>
          <a:prstGeom prst="rect">
            <a:avLst/>
          </a:prstGeom>
          <a:noFill/>
          <a:ln/>
        </p:spPr>
        <p:txBody>
          <a:bodyPr wrap="square" lIns="0" tIns="0" rIns="0" bIns="0" rtlCol="0" anchor="ctr"/>
          <a:lstStyle/>
          <a:p>
            <a:pPr algn="ctr" indent="0" marL="0">
              <a:buNone/>
            </a:pPr>
            <a:r>
              <a:rPr lang="en-US" sz="3400" b="1" dirty="0">
                <a:solidFill>
                  <a:srgbClr val="6E757C"/>
                </a:solidFill>
                <a:latin typeface="Cambria" pitchFamily="34" charset="0"/>
                <a:ea typeface="Cambria" pitchFamily="34" charset="-122"/>
                <a:cs typeface="Cambria" pitchFamily="34" charset="-120"/>
              </a:rPr>
              <a:t>5–7</a:t>
            </a:r>
            <a:endParaRPr lang="en-US" sz="3400" dirty="0"/>
          </a:p>
        </p:txBody>
      </p:sp>
      <p:sp>
        <p:nvSpPr>
          <p:cNvPr id="11" name="Text 9"/>
          <p:cNvSpPr txBox="1"/>
          <p:nvPr/>
        </p:nvSpPr>
        <p:spPr>
          <a:xfrm>
            <a:off x="47091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שעות לולאת Skyway, עם עצירות</a:t>
            </a:r>
            <a:endParaRPr lang="en-US" sz="1200" dirty="0"/>
          </a:p>
        </p:txBody>
      </p:sp>
      <p:sp>
        <p:nvSpPr>
          <p:cNvPr id="12" name="Shape 10"/>
          <p:cNvSpPr/>
          <p:nvPr/>
        </p:nvSpPr>
        <p:spPr>
          <a:xfrm>
            <a:off x="6629400" y="1188720"/>
            <a:ext cx="2057400" cy="1371600"/>
          </a:xfrm>
          <a:prstGeom prst="roundRect">
            <a:avLst>
              <a:gd name="adj" fmla="val 5333"/>
            </a:avLst>
          </a:prstGeom>
          <a:solidFill>
            <a:srgbClr val="F6E7DA"/>
          </a:solidFill>
          <a:ln w="6350">
            <a:solidFill>
              <a:srgbClr val="F6E7DA"/>
            </a:solidFill>
            <a:prstDash val="solid"/>
          </a:ln>
        </p:spPr>
      </p:sp>
      <p:sp>
        <p:nvSpPr>
          <p:cNvPr id="13" name="Text 11"/>
          <p:cNvSpPr txBox="1"/>
          <p:nvPr/>
        </p:nvSpPr>
        <p:spPr>
          <a:xfrm>
            <a:off x="6793992" y="1316736"/>
            <a:ext cx="1728216" cy="384048"/>
          </a:xfrm>
          <a:prstGeom prst="rect">
            <a:avLst/>
          </a:prstGeom>
          <a:noFill/>
          <a:ln/>
        </p:spPr>
        <p:txBody>
          <a:bodyPr wrap="square" lIns="0" tIns="0" rIns="0" bIns="0" rtlCol="0" anchor="ctr"/>
          <a:lstStyle/>
          <a:p>
            <a:pPr rtl="1" algn="r" indent="0" marL="0">
              <a:buNone/>
            </a:pPr>
            <a:r>
              <a:rPr lang="en-US" sz="1300" b="1" dirty="0">
                <a:solidFill>
                  <a:srgbClr val="B5651D"/>
                </a:solidFill>
                <a:latin typeface="Cambria" pitchFamily="34" charset="0"/>
                <a:ea typeface="Cambria" pitchFamily="34" charset="-122"/>
                <a:cs typeface="Cambria" pitchFamily="34" charset="-120"/>
              </a:rPr>
              <a:t>⚠ סגירה</a:t>
            </a:r>
            <a:endParaRPr lang="en-US" sz="1300" dirty="0"/>
          </a:p>
        </p:txBody>
      </p:sp>
      <p:sp>
        <p:nvSpPr>
          <p:cNvPr id="14" name="Text 12"/>
          <p:cNvSpPr txBox="1"/>
          <p:nvPr/>
        </p:nvSpPr>
        <p:spPr>
          <a:xfrm>
            <a:off x="6793992" y="1737360"/>
            <a:ext cx="1728216" cy="7132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דווח על סגירת US 550 בין Silverton ל-Ouray. לא מאומת במקור רשמי.</a:t>
            </a:r>
            <a:endParaRPr lang="en-US" sz="1100" dirty="0"/>
          </a:p>
        </p:txBody>
      </p:sp>
      <p:sp>
        <p:nvSpPr>
          <p:cNvPr id="15" name="Text 13"/>
          <p:cNvSpPr txBox="1"/>
          <p:nvPr/>
        </p:nvSpPr>
        <p:spPr>
          <a:xfrm>
            <a:off x="457200" y="2834640"/>
            <a:ext cx="8229600" cy="128016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הכביש נבנה בהמשך לדרך עפר שהוקמה בסוף המאה ה-19, ומשתרע על מדרונות תלולים עם נופים רחבים.</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נסיעה בכביש הזה דורשת ריכוז, במיוחד בגשם ובערפל. מומלץ לתכנן עצירות מוקדמות ולא ללכת למסלולים ארוכים באותו יום.</a:t>
            </a:r>
            <a:endParaRPr lang="en-US" sz="1400" dirty="0"/>
          </a:p>
        </p:txBody>
      </p:sp>
      <p:sp>
        <p:nvSpPr>
          <p:cNvPr id="16" name="Text 14"/>
          <p:cNvSpPr txBox="1"/>
          <p:nvPr/>
        </p:nvSpPr>
        <p:spPr>
          <a:xfrm>
            <a:off x="457200" y="4160520"/>
            <a:ext cx="8229600" cy="457200"/>
          </a:xfrm>
          <a:prstGeom prst="rect">
            <a:avLst/>
          </a:prstGeom>
          <a:noFill/>
          <a:ln/>
        </p:spPr>
        <p:txBody>
          <a:bodyPr wrap="square" lIns="0" tIns="0" rIns="0" bIns="0" rtlCol="0" anchor="ctr"/>
          <a:lstStyle/>
          <a:p>
            <a:pPr rtl="1" algn="r" indent="0" marL="0">
              <a:buNone/>
            </a:pPr>
            <a:r>
              <a:rPr lang="en-US" sz="1300" b="1" dirty="0">
                <a:solidFill>
                  <a:srgbClr val="B5651D"/>
                </a:solidFill>
                <a:latin typeface="Calibri" pitchFamily="34" charset="0"/>
                <a:ea typeface="Calibri" pitchFamily="34" charset="-122"/>
                <a:cs typeface="Calibri" pitchFamily="34" charset="-120"/>
              </a:rPr>
              <a:t>לפני הטיול: לבדוק במקור CDOT (cotrip.org) אם הכביש פתוח, ואם יש הגבלות לרכבים גדולים או לגרירה.</a:t>
            </a:r>
            <a:endParaRPr lang="en-US" sz="1300" dirty="0"/>
          </a:p>
        </p:txBody>
      </p:sp>
      <p:sp>
        <p:nvSpPr>
          <p:cNvPr id="17" name="Text 15"/>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visitouray.com, roadtravelamerica.com, CDOT San Juan Skyway. מידע הסגירה הגיע מפוסט ברשת חברתית ולא מאומת; נא לבדוק את מצב הכביש בזמן אמת.</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צמחייה ובעלי חיים ב-San Juan</a:t>
            </a:r>
            <a:endParaRPr lang="en-US" sz="3200" dirty="0"/>
          </a:p>
        </p:txBody>
      </p:sp>
      <p:sp>
        <p:nvSpPr>
          <p:cNvPr id="3" name="Shape 1"/>
          <p:cNvSpPr/>
          <p:nvPr/>
        </p:nvSpPr>
        <p:spPr>
          <a:xfrm>
            <a:off x="457200" y="1188720"/>
            <a:ext cx="3291840" cy="3291840"/>
          </a:xfrm>
          <a:prstGeom prst="rect">
            <a:avLst/>
          </a:prstGeom>
          <a:solidFill>
            <a:srgbClr val="DDE3DD"/>
          </a:solidFill>
          <a:ln w="12700">
            <a:solidFill>
              <a:srgbClr val="8A958E"/>
            </a:solidFill>
            <a:prstDash val="dash"/>
          </a:ln>
        </p:spPr>
      </p:sp>
      <p:sp>
        <p:nvSpPr>
          <p:cNvPr id="4" name="Text 2"/>
          <p:cNvSpPr txBox="1"/>
          <p:nvPr/>
        </p:nvSpPr>
        <p:spPr>
          <a:xfrm>
            <a:off x="566928" y="1298448"/>
            <a:ext cx="3072384" cy="3072384"/>
          </a:xfrm>
          <a:prstGeom prst="rect">
            <a:avLst/>
          </a:prstGeom>
          <a:noFill/>
          <a:ln/>
        </p:spPr>
        <p:txBody>
          <a:bodyPr wrap="square" lIns="0" tIns="0" rIns="0" bIns="0" rtlCol="0" anchor="ctr"/>
          <a:lstStyle/>
          <a:p>
            <a:pPr rtl="1" algn="ctr" indent="0" marL="0">
              <a:buNone/>
            </a:pPr>
            <a:r>
              <a:rPr lang="en-US" sz="1100" i="1" dirty="0">
                <a:solidFill>
                  <a:srgbClr val="5A625E"/>
                </a:solidFill>
                <a:latin typeface="Calibri" pitchFamily="34" charset="0"/>
                <a:ea typeface="Calibri" pitchFamily="34" charset="-122"/>
                <a:cs typeface="Calibri" pitchFamily="34" charset="-120"/>
              </a:rPr>
              <a:t>[תמונה לשילוב: פרחי בר אלפיניים בדשא גבוה, תקריב אמיתי של פרחים באזור הרכס]</a:t>
            </a:r>
            <a:endParaRPr lang="en-US" sz="1100" dirty="0"/>
          </a:p>
        </p:txBody>
      </p:sp>
      <p:sp>
        <p:nvSpPr>
          <p:cNvPr id="5" name="Text 3"/>
          <p:cNvSpPr txBox="1"/>
          <p:nvPr/>
        </p:nvSpPr>
        <p:spPr>
          <a:xfrm>
            <a:off x="4023360" y="1188720"/>
            <a:ext cx="4663440" cy="329184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יערות מחטניים (אשוחית ואשוח) במדרונות, ואספן לאורך הנחלים.</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כרי דשא אלפיניים עם פרחי בר בשיא באוגוסט, בעיקר באזורי ביניים.</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בעלי חיים שניתן לראות: אייל מצוי, כבש הרים (בגבהים), מרמוטה ופיקה בשדות סלע. ייתכנו גם דובים שחורים.</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בעלי החיים המדויקים לכל מסלול לא נבדקו מול מקור רשמי [לאימות].</a:t>
            </a:r>
            <a:endParaRPr lang="en-US" sz="1400" dirty="0"/>
          </a:p>
        </p:txBody>
      </p:sp>
      <p:sp>
        <p:nvSpPr>
          <p:cNvPr id="6" name="Text 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San Juan National Forest, Colorado Parks and Wildlife. הרשימה כללית; מינים מדויקים ופעילות עונתית [לאימות].</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אזורי צמחייה לפי גובה ב-San Juan</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2011680"/>
                <a:gridCol w="2468880"/>
                <a:gridCol w="1828800"/>
              </a:tblGrid>
              <a:tr h="640080">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אזור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גובה (בערך)</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מה רואים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איך זה משפיע על המסלול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64008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יער Montane</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עד כ-9,000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אספן, אשוחית, שיחייה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הצל נעלם בדרך לאגם, החום מורגש</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64008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Subalpine</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כ-9,000–11,500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אשוחית, אשוח, כרי דשא, פרחים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אזור רוב המסלולים לאגמים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640080">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Alpine Tundra</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מעל כ-11,500 רגל</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שיחים זוחלים, חזזיות, סלעים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רוחות, קור והשלכות של סופה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bl>
          </a:graphicData>
        </a:graphic>
      </p:graphicFrame>
      <p:sp>
        <p:nvSpPr>
          <p:cNvPr id="4" name="Text 1"/>
          <p:cNvSpPr txBox="1"/>
          <p:nvPr/>
        </p:nvSpPr>
        <p:spPr>
          <a:xfrm>
            <a:off x="457200" y="3840480"/>
            <a:ext cx="8229600" cy="640080"/>
          </a:xfrm>
          <a:prstGeom prst="rect">
            <a:avLst/>
          </a:prstGeom>
          <a:noFill/>
          <a:ln/>
        </p:spPr>
        <p:txBody>
          <a:bodyPr wrap="square" lIns="0" tIns="0" rIns="0" bIns="0" rtlCol="0" anchor="ctr"/>
          <a:lstStyle/>
          <a:p>
            <a:pPr rtl="1" algn="r" indent="0" marL="0">
              <a:buNone/>
            </a:pPr>
            <a:r>
              <a:rPr lang="en-US" sz="1300" dirty="0">
                <a:solidFill>
                  <a:srgbClr val="1E2421"/>
                </a:solidFill>
                <a:latin typeface="Calibri" pitchFamily="34" charset="0"/>
                <a:ea typeface="Calibri" pitchFamily="34" charset="-122"/>
                <a:cs typeface="Calibri" pitchFamily="34" charset="-120"/>
              </a:rPr>
              <a:t>ההבדל בין האזורים מורגש בצעד. כשהופכים מדרון לאגם בגובה, נוף הטונדרה מתחיל לפני שרואים את האגם, ולכן התכנון צריך לקחת בחשבון את הגובה.</a:t>
            </a:r>
            <a:endParaRPr lang="en-US" sz="1300" dirty="0"/>
          </a:p>
        </p:txBody>
      </p:sp>
      <p:sp>
        <p:nvSpPr>
          <p:cNvPr id="5" name="Text 2"/>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הטווחים הם הערכה לפי מקורות כלליים ותלויים בחשיפה ובשנה. לאימות מול San Juan National Forest.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תוכנית San Juan: 5 ימים</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57200"/>
                <a:gridCol w="2286000"/>
                <a:gridCol w="1097280"/>
                <a:gridCol w="1463040"/>
                <a:gridCol w="1005840"/>
                <a:gridCol w="1005840"/>
                <a:gridCol w="914400"/>
              </a:tblGrid>
              <a:tr h="566928">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יום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מיקוד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מרחק</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הפרש גובה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קושי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זמן</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מה מיוחד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566928">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הגעה לעיירה · נסיעה ב-Million Dollar Highway</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~25 mi כביש</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עד 11,018 רגל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נסיעה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חצי יום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בדיקת סגירה לפני הנסיעה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566928">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Ice Lake Basin</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8.7–8.8 mi [טווח]</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~2,400–2,900 רגל [טווח]</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בינוני–מאתגר</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6–7 שע׳ [לאימות]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אגמים ונוף אלפיני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566928">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Blue Lakes · Lower Blue Lake כיעד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6.3–6.5 mi [טווח]</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~1,600–2,400 רגל [טווח]</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אפשר להמשיך ל-Upper</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566928">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Ouray · העיירה והמסלולים הקצרים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יום חיץ ומנוחה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566928">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Telluride · יום נסיעה ונוף</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דרך עם מעברים גבוהים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ימים 1–3 מבוססים על נתונים שנבדקו. ימים 4–5 דורשים מחקר נוסף. ערכי הטווח משקפים מקורות שונים. נתוני השבילים ואפשרויות ההליכה צריכים אישור לפני יציאה.</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E26"/>
        </a:solidFill>
      </p:bgPr>
    </p:bg>
    <p:spTree>
      <p:nvGrpSpPr>
        <p:cNvPr id="1" name=""/>
        <p:cNvGrpSpPr/>
        <p:nvPr/>
      </p:nvGrpSpPr>
      <p:grpSpPr>
        <a:xfrm>
          <a:off x="0" y="0"/>
          <a:ext cx="0" cy="0"/>
          <a:chOff x="0" y="0"/>
          <a:chExt cx="0" cy="0"/>
        </a:xfrm>
      </p:grpSpPr>
      <p:sp>
        <p:nvSpPr>
          <p:cNvPr id="2" name="Text 0"/>
          <p:cNvSpPr txBox="1"/>
          <p:nvPr/>
        </p:nvSpPr>
        <p:spPr>
          <a:xfrm>
            <a:off x="457200" y="1097280"/>
            <a:ext cx="8229600" cy="1188720"/>
          </a:xfrm>
          <a:prstGeom prst="rect">
            <a:avLst/>
          </a:prstGeom>
          <a:noFill/>
          <a:ln/>
        </p:spPr>
        <p:txBody>
          <a:bodyPr wrap="square" lIns="0" tIns="0" rIns="0" bIns="0" rtlCol="0" anchor="ctr"/>
          <a:lstStyle/>
          <a:p>
            <a:pPr algn="r" indent="0" marL="0">
              <a:buNone/>
            </a:pPr>
            <a:r>
              <a:rPr lang="en-US" sz="8000" b="1" dirty="0">
                <a:solidFill>
                  <a:srgbClr val="8DB06B"/>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457200" y="2377440"/>
            <a:ext cx="8229600" cy="822960"/>
          </a:xfrm>
          <a:prstGeom prst="rect">
            <a:avLst/>
          </a:prstGeom>
          <a:noFill/>
          <a:ln/>
        </p:spPr>
        <p:txBody>
          <a:bodyPr wrap="square" lIns="0" tIns="0" rIns="0" bIns="0" rtlCol="0" anchor="ctr"/>
          <a:lstStyle/>
          <a:p>
            <a:pPr rtl="1" algn="r" indent="0" marL="0">
              <a:buNone/>
            </a:pPr>
            <a:r>
              <a:rPr lang="en-US" sz="4000" b="1" dirty="0">
                <a:solidFill>
                  <a:srgbClr val="FFFFFF"/>
                </a:solidFill>
                <a:latin typeface="Cambria" pitchFamily="34" charset="0"/>
                <a:ea typeface="Cambria" pitchFamily="34" charset="-122"/>
                <a:cs typeface="Cambria" pitchFamily="34" charset="-120"/>
              </a:rPr>
              <a:t>Rocky Mountain National Park</a:t>
            </a:r>
            <a:endParaRPr lang="en-US" sz="4000" dirty="0"/>
          </a:p>
        </p:txBody>
      </p:sp>
      <p:sp>
        <p:nvSpPr>
          <p:cNvPr id="4" name="Text 2"/>
          <p:cNvSpPr txBox="1"/>
          <p:nvPr/>
        </p:nvSpPr>
        <p:spPr>
          <a:xfrm>
            <a:off x="457200" y="3291840"/>
            <a:ext cx="8229600" cy="548640"/>
          </a:xfrm>
          <a:prstGeom prst="rect">
            <a:avLst/>
          </a:prstGeom>
          <a:noFill/>
          <a:ln/>
        </p:spPr>
        <p:txBody>
          <a:bodyPr wrap="square" lIns="0" tIns="0" rIns="0" bIns="0" rtlCol="0" anchor="ctr"/>
          <a:lstStyle/>
          <a:p>
            <a:pPr rtl="1" algn="r" indent="0" marL="0">
              <a:buNone/>
            </a:pPr>
            <a:r>
              <a:rPr lang="en-US" sz="1800" dirty="0">
                <a:solidFill>
                  <a:srgbClr val="C9D6CE"/>
                </a:solidFill>
                <a:latin typeface="Calibri" pitchFamily="34" charset="0"/>
                <a:ea typeface="Calibri" pitchFamily="34" charset="-122"/>
                <a:cs typeface="Calibri" pitchFamily="34" charset="-120"/>
              </a:rPr>
              <a:t>הפארק שמסביב לרכס הקונטיננטלי, ושלוש המערכות האקולוגיות שלו</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הפארק: מיקום וגאוגרפיה</a:t>
            </a:r>
            <a:endParaRPr lang="en-US" sz="3200" dirty="0"/>
          </a:p>
        </p:txBody>
      </p:sp>
      <p:sp>
        <p:nvSpPr>
          <p:cNvPr id="3" name="Shape 1"/>
          <p:cNvSpPr/>
          <p:nvPr/>
        </p:nvSpPr>
        <p:spPr>
          <a:xfrm>
            <a:off x="457200" y="1188720"/>
            <a:ext cx="3840480" cy="3291840"/>
          </a:xfrm>
          <a:prstGeom prst="rect">
            <a:avLst/>
          </a:prstGeom>
          <a:solidFill>
            <a:srgbClr val="DDE3DD"/>
          </a:solidFill>
          <a:ln w="12700">
            <a:solidFill>
              <a:srgbClr val="8A958E"/>
            </a:solidFill>
            <a:prstDash val="dash"/>
          </a:ln>
        </p:spPr>
      </p:sp>
      <p:sp>
        <p:nvSpPr>
          <p:cNvPr id="4" name="Text 2"/>
          <p:cNvSpPr txBox="1"/>
          <p:nvPr/>
        </p:nvSpPr>
        <p:spPr>
          <a:xfrm>
            <a:off x="566928" y="1298448"/>
            <a:ext cx="3621024" cy="3072384"/>
          </a:xfrm>
          <a:prstGeom prst="rect">
            <a:avLst/>
          </a:prstGeom>
          <a:noFill/>
          <a:ln/>
        </p:spPr>
        <p:txBody>
          <a:bodyPr wrap="square" lIns="0" tIns="0" rIns="0" bIns="0" rtlCol="0" anchor="ctr"/>
          <a:lstStyle/>
          <a:p>
            <a:pPr rtl="1" algn="ctr" indent="0" marL="0">
              <a:buNone/>
            </a:pPr>
            <a:r>
              <a:rPr lang="en-US" sz="1100" i="1" dirty="0">
                <a:solidFill>
                  <a:srgbClr val="5A625E"/>
                </a:solidFill>
                <a:latin typeface="Calibri" pitchFamily="34" charset="0"/>
                <a:ea typeface="Calibri" pitchFamily="34" charset="-122"/>
                <a:cs typeface="Calibri" pitchFamily="34" charset="-120"/>
              </a:rPr>
              <a:t>[תמונה לשילוב: Bear Lake או Emerald Lake בבוקר, צילום נוף אמיתי של המקום]</a:t>
            </a:r>
            <a:endParaRPr lang="en-US" sz="1100" dirty="0"/>
          </a:p>
        </p:txBody>
      </p:sp>
      <p:sp>
        <p:nvSpPr>
          <p:cNvPr id="5" name="Text 3"/>
          <p:cNvSpPr txBox="1"/>
          <p:nvPr/>
        </p:nvSpPr>
        <p:spPr>
          <a:xfrm>
            <a:off x="4572000" y="1188720"/>
            <a:ext cx="4114800" cy="3291840"/>
          </a:xfrm>
          <a:prstGeom prst="rect">
            <a:avLst/>
          </a:prstGeom>
          <a:noFill/>
          <a:ln/>
        </p:spPr>
        <p:txBody>
          <a:bodyPr wrap="square" lIns="0" tIns="0" rIns="0" bIns="0" rtlCol="0" anchor="t"/>
          <a:lstStyle/>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הפארק משתרע לאורך הרכס הקונטיננטלי, והוא חלק מ-Front Range ממזרח לקו הפרשה.</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כניסות לפארק: Beaver Meadows, Fall River ו-Grand Lake. חלקן נמצאות בצד המזרחי ובצד המערבי.</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Trail Ridge Road חוצה את הפארק בכביש גבוה וממשיך דרך הטונדרה.</a:t>
            </a:r>
            <a:endParaRPr lang="en-US" sz="1350" dirty="0"/>
          </a:p>
          <a:p>
            <a:pPr algn="r" marL="177800" indent="-177800">
              <a:spcAft>
                <a:spcPts val="600"/>
              </a:spcAft>
              <a:buSzPct val="100000"/>
              <a:buChar char="•"/>
            </a:pPr>
            <a:r>
              <a:rPr lang="en-US" sz="1350" dirty="0">
                <a:solidFill>
                  <a:srgbClr val="1E2421"/>
                </a:solidFill>
                <a:latin typeface="Calibri" pitchFamily="34" charset="0"/>
                <a:ea typeface="Calibri" pitchFamily="34" charset="-122"/>
                <a:cs typeface="Calibri" pitchFamily="34" charset="-120"/>
              </a:rPr>
              <a:t>אזור Bear Lake Road, ליד כניסת Beaver Meadows, מכיל את רוב המסלולים הפופולריים ביותר.</a:t>
            </a:r>
            <a:endParaRPr lang="en-US" sz="1350" dirty="0"/>
          </a:p>
        </p:txBody>
      </p:sp>
      <p:sp>
        <p:nvSpPr>
          <p:cNvPr id="6" name="Text 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(Rocky Mountain NP, Bear Lake Road Corridor), recreation.gov, estes-park.com.</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שלוש מערכות אקולוגיות, שני קילומטרים של גובה</a:t>
            </a:r>
            <a:endParaRPr lang="en-US" sz="3200" dirty="0"/>
          </a:p>
        </p:txBody>
      </p:sp>
      <p:sp>
        <p:nvSpPr>
          <p:cNvPr id="3" name="Shape 1"/>
          <p:cNvSpPr/>
          <p:nvPr/>
        </p:nvSpPr>
        <p:spPr>
          <a:xfrm>
            <a:off x="1097280" y="2919984"/>
            <a:ext cx="2926080" cy="1298448"/>
          </a:xfrm>
          <a:prstGeom prst="rect">
            <a:avLst/>
          </a:prstGeom>
          <a:solidFill>
            <a:srgbClr val="8DB06B"/>
          </a:solidFill>
          <a:ln w="12700">
            <a:solidFill>
              <a:srgbClr val="FFFFFF"/>
            </a:solidFill>
            <a:prstDash val="solid"/>
          </a:ln>
        </p:spPr>
      </p:sp>
      <p:sp>
        <p:nvSpPr>
          <p:cNvPr id="4" name="Text 2"/>
          <p:cNvSpPr txBox="1"/>
          <p:nvPr/>
        </p:nvSpPr>
        <p:spPr>
          <a:xfrm>
            <a:off x="1188720" y="2965704"/>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Montane</a:t>
            </a:r>
            <a:endParaRPr lang="en-US" sz="1400" dirty="0"/>
          </a:p>
        </p:txBody>
      </p:sp>
      <p:sp>
        <p:nvSpPr>
          <p:cNvPr id="5" name="Text 3"/>
          <p:cNvSpPr txBox="1"/>
          <p:nvPr/>
        </p:nvSpPr>
        <p:spPr>
          <a:xfrm>
            <a:off x="4206240" y="2938272"/>
            <a:ext cx="4480560" cy="1261872"/>
          </a:xfrm>
          <a:prstGeom prst="rect">
            <a:avLst/>
          </a:prstGeom>
          <a:noFill/>
          <a:ln/>
        </p:spPr>
        <p:txBody>
          <a:bodyPr wrap="square" lIns="0" tIns="0" rIns="0" bIns="0" rtlCol="0" anchor="ctr"/>
          <a:lstStyle/>
          <a:p>
            <a:pPr rtl="1" algn="r" indent="0" marL="0">
              <a:buNone/>
            </a:pPr>
            <a:r>
              <a:rPr lang="en-US" sz="1200" dirty="0">
                <a:solidFill>
                  <a:srgbClr val="1E2421"/>
                </a:solidFill>
                <a:latin typeface="Calibri" pitchFamily="34" charset="0"/>
                <a:ea typeface="Calibri" pitchFamily="34" charset="-122"/>
                <a:cs typeface="Calibri" pitchFamily="34" charset="-120"/>
              </a:rPr>
              <a:t>פונדרוסה, דאגלס-אשוחית, אספן · איילה, דוב שחור</a:t>
            </a:r>
            <a:endParaRPr lang="en-US" sz="1200" dirty="0"/>
          </a:p>
        </p:txBody>
      </p:sp>
      <p:sp>
        <p:nvSpPr>
          <p:cNvPr id="6" name="Shape 4"/>
          <p:cNvSpPr/>
          <p:nvPr/>
        </p:nvSpPr>
        <p:spPr>
          <a:xfrm>
            <a:off x="1097280" y="1664818"/>
            <a:ext cx="2926080" cy="1255166"/>
          </a:xfrm>
          <a:prstGeom prst="rect">
            <a:avLst/>
          </a:prstGeom>
          <a:solidFill>
            <a:srgbClr val="4F8A6B"/>
          </a:solidFill>
          <a:ln w="12700">
            <a:solidFill>
              <a:srgbClr val="FFFFFF"/>
            </a:solidFill>
            <a:prstDash val="solid"/>
          </a:ln>
        </p:spPr>
      </p:sp>
      <p:sp>
        <p:nvSpPr>
          <p:cNvPr id="7" name="Text 5"/>
          <p:cNvSpPr txBox="1"/>
          <p:nvPr/>
        </p:nvSpPr>
        <p:spPr>
          <a:xfrm>
            <a:off x="1188720" y="1710538"/>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Subalpine</a:t>
            </a:r>
            <a:endParaRPr lang="en-US" sz="1400" dirty="0"/>
          </a:p>
        </p:txBody>
      </p:sp>
      <p:sp>
        <p:nvSpPr>
          <p:cNvPr id="8" name="Text 6"/>
          <p:cNvSpPr txBox="1"/>
          <p:nvPr/>
        </p:nvSpPr>
        <p:spPr>
          <a:xfrm>
            <a:off x="4206240" y="1683106"/>
            <a:ext cx="4480560" cy="1218590"/>
          </a:xfrm>
          <a:prstGeom prst="rect">
            <a:avLst/>
          </a:prstGeom>
          <a:noFill/>
          <a:ln/>
        </p:spPr>
        <p:txBody>
          <a:bodyPr wrap="square" lIns="0" tIns="0" rIns="0" bIns="0" rtlCol="0" anchor="ctr"/>
          <a:lstStyle/>
          <a:p>
            <a:pPr rtl="1" algn="r" indent="0" marL="0">
              <a:buNone/>
            </a:pPr>
            <a:r>
              <a:rPr lang="en-US" sz="1200" dirty="0">
                <a:solidFill>
                  <a:srgbClr val="1E2421"/>
                </a:solidFill>
                <a:latin typeface="Calibri" pitchFamily="34" charset="0"/>
                <a:ea typeface="Calibri" pitchFamily="34" charset="-122"/>
                <a:cs typeface="Calibri" pitchFamily="34" charset="-120"/>
              </a:rPr>
              <a:t>אשוחית אנגלמן, אשוח הרים, לודג'פול · אייל, איילת</a:t>
            </a:r>
            <a:endParaRPr lang="en-US" sz="1200" dirty="0"/>
          </a:p>
        </p:txBody>
      </p:sp>
      <p:sp>
        <p:nvSpPr>
          <p:cNvPr id="9" name="Shape 7"/>
          <p:cNvSpPr/>
          <p:nvPr/>
        </p:nvSpPr>
        <p:spPr>
          <a:xfrm>
            <a:off x="1097280" y="1188720"/>
            <a:ext cx="2926080" cy="476098"/>
          </a:xfrm>
          <a:prstGeom prst="rect">
            <a:avLst/>
          </a:prstGeom>
          <a:solidFill>
            <a:srgbClr val="9AA5A8"/>
          </a:solidFill>
          <a:ln w="12700">
            <a:solidFill>
              <a:srgbClr val="FFFFFF"/>
            </a:solidFill>
            <a:prstDash val="solid"/>
          </a:ln>
        </p:spPr>
      </p:sp>
      <p:sp>
        <p:nvSpPr>
          <p:cNvPr id="10" name="Text 8"/>
          <p:cNvSpPr txBox="1"/>
          <p:nvPr/>
        </p:nvSpPr>
        <p:spPr>
          <a:xfrm>
            <a:off x="1188720" y="1234440"/>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Alpine Tundra</a:t>
            </a:r>
            <a:endParaRPr lang="en-US" sz="1400" dirty="0"/>
          </a:p>
        </p:txBody>
      </p:sp>
      <p:sp>
        <p:nvSpPr>
          <p:cNvPr id="11" name="Text 9"/>
          <p:cNvSpPr txBox="1"/>
          <p:nvPr/>
        </p:nvSpPr>
        <p:spPr>
          <a:xfrm>
            <a:off x="4206240" y="1207008"/>
            <a:ext cx="4480560" cy="439522"/>
          </a:xfrm>
          <a:prstGeom prst="rect">
            <a:avLst/>
          </a:prstGeom>
          <a:noFill/>
          <a:ln/>
        </p:spPr>
        <p:txBody>
          <a:bodyPr wrap="square" lIns="0" tIns="0" rIns="0" bIns="0" rtlCol="0" anchor="ctr"/>
          <a:lstStyle/>
          <a:p>
            <a:pPr rtl="1" algn="r" indent="0" marL="0">
              <a:buNone/>
            </a:pPr>
            <a:r>
              <a:rPr lang="en-US" sz="1200" dirty="0">
                <a:solidFill>
                  <a:srgbClr val="1E2421"/>
                </a:solidFill>
                <a:latin typeface="Calibri" pitchFamily="34" charset="0"/>
                <a:ea typeface="Calibri" pitchFamily="34" charset="-122"/>
                <a:cs typeface="Calibri" pitchFamily="34" charset="-120"/>
              </a:rPr>
              <a:t>שיחים זוחלים, חזזיות, פרחי בר · כבש הרים, פיקה, מרמוטה</a:t>
            </a:r>
            <a:endParaRPr lang="en-US" sz="1200" dirty="0"/>
          </a:p>
        </p:txBody>
      </p:sp>
      <p:sp>
        <p:nvSpPr>
          <p:cNvPr id="12" name="Text 10"/>
          <p:cNvSpPr txBox="1"/>
          <p:nvPr/>
        </p:nvSpPr>
        <p:spPr>
          <a:xfrm>
            <a:off x="182880" y="4325112"/>
            <a:ext cx="868680" cy="219456"/>
          </a:xfrm>
          <a:prstGeom prst="rect">
            <a:avLst/>
          </a:prstGeom>
          <a:noFill/>
          <a:ln/>
        </p:spPr>
        <p:txBody>
          <a:bodyPr wrap="square" lIns="0" tIns="0" rIns="0" bIns="0" rtlCol="0" anchor="ctr"/>
          <a:lstStyle/>
          <a:p>
            <a:pPr algn="r" indent="0" marL="0">
              <a:buNone/>
            </a:pPr>
            <a:r>
              <a:rPr lang="en-US" sz="1000" dirty="0">
                <a:solidFill>
                  <a:srgbClr val="5A625E"/>
                </a:solidFill>
                <a:latin typeface="Calibri" pitchFamily="34" charset="0"/>
                <a:ea typeface="Calibri" pitchFamily="34" charset="-122"/>
                <a:cs typeface="Calibri" pitchFamily="34" charset="-120"/>
              </a:rPr>
              <a:t>5,000 רגל</a:t>
            </a:r>
            <a:endParaRPr lang="en-US" sz="1000" dirty="0"/>
          </a:p>
        </p:txBody>
      </p:sp>
      <p:sp>
        <p:nvSpPr>
          <p:cNvPr id="13" name="Text 11"/>
          <p:cNvSpPr txBox="1"/>
          <p:nvPr/>
        </p:nvSpPr>
        <p:spPr>
          <a:xfrm>
            <a:off x="182880" y="3243072"/>
            <a:ext cx="868680" cy="219456"/>
          </a:xfrm>
          <a:prstGeom prst="rect">
            <a:avLst/>
          </a:prstGeom>
          <a:noFill/>
          <a:ln/>
        </p:spPr>
        <p:txBody>
          <a:bodyPr wrap="square" lIns="0" tIns="0" rIns="0" bIns="0" rtlCol="0" anchor="ctr"/>
          <a:lstStyle/>
          <a:p>
            <a:pPr algn="r" indent="0" marL="0">
              <a:buNone/>
            </a:pPr>
            <a:r>
              <a:rPr lang="en-US" sz="1000" dirty="0">
                <a:solidFill>
                  <a:srgbClr val="5A625E"/>
                </a:solidFill>
                <a:latin typeface="Calibri" pitchFamily="34" charset="0"/>
                <a:ea typeface="Calibri" pitchFamily="34" charset="-122"/>
                <a:cs typeface="Calibri" pitchFamily="34" charset="-120"/>
              </a:rPr>
              <a:t>7,500 רגל</a:t>
            </a:r>
            <a:endParaRPr lang="en-US" sz="1000" dirty="0"/>
          </a:p>
        </p:txBody>
      </p:sp>
      <p:sp>
        <p:nvSpPr>
          <p:cNvPr id="14" name="Text 12"/>
          <p:cNvSpPr txBox="1"/>
          <p:nvPr/>
        </p:nvSpPr>
        <p:spPr>
          <a:xfrm>
            <a:off x="182880" y="2161032"/>
            <a:ext cx="868680" cy="219456"/>
          </a:xfrm>
          <a:prstGeom prst="rect">
            <a:avLst/>
          </a:prstGeom>
          <a:noFill/>
          <a:ln/>
        </p:spPr>
        <p:txBody>
          <a:bodyPr wrap="square" lIns="0" tIns="0" rIns="0" bIns="0" rtlCol="0" anchor="ctr"/>
          <a:lstStyle/>
          <a:p>
            <a:pPr algn="r" indent="0" marL="0">
              <a:buNone/>
            </a:pPr>
            <a:r>
              <a:rPr lang="en-US" sz="1000" dirty="0">
                <a:solidFill>
                  <a:srgbClr val="5A625E"/>
                </a:solidFill>
                <a:latin typeface="Calibri" pitchFamily="34" charset="0"/>
                <a:ea typeface="Calibri" pitchFamily="34" charset="-122"/>
                <a:cs typeface="Calibri" pitchFamily="34" charset="-120"/>
              </a:rPr>
              <a:t>10,000 רגל</a:t>
            </a:r>
            <a:endParaRPr lang="en-US" sz="1000" dirty="0"/>
          </a:p>
        </p:txBody>
      </p:sp>
      <p:sp>
        <p:nvSpPr>
          <p:cNvPr id="15" name="Text 13"/>
          <p:cNvSpPr txBox="1"/>
          <p:nvPr/>
        </p:nvSpPr>
        <p:spPr>
          <a:xfrm>
            <a:off x="182880" y="1078992"/>
            <a:ext cx="868680" cy="219456"/>
          </a:xfrm>
          <a:prstGeom prst="rect">
            <a:avLst/>
          </a:prstGeom>
          <a:noFill/>
          <a:ln/>
        </p:spPr>
        <p:txBody>
          <a:bodyPr wrap="square" lIns="0" tIns="0" rIns="0" bIns="0" rtlCol="0" anchor="ctr"/>
          <a:lstStyle/>
          <a:p>
            <a:pPr algn="r" indent="0" marL="0">
              <a:buNone/>
            </a:pPr>
            <a:r>
              <a:rPr lang="en-US" sz="1000" dirty="0">
                <a:solidFill>
                  <a:srgbClr val="5A625E"/>
                </a:solidFill>
                <a:latin typeface="Calibri" pitchFamily="34" charset="0"/>
                <a:ea typeface="Calibri" pitchFamily="34" charset="-122"/>
                <a:cs typeface="Calibri" pitchFamily="34" charset="-120"/>
              </a:rPr>
              <a:t>12,500 רגל</a:t>
            </a:r>
            <a:endParaRPr lang="en-US" sz="1000" dirty="0"/>
          </a:p>
        </p:txBody>
      </p:sp>
      <p:sp>
        <p:nvSpPr>
          <p:cNvPr id="16" name="Shape 14"/>
          <p:cNvSpPr/>
          <p:nvPr/>
        </p:nvSpPr>
        <p:spPr>
          <a:xfrm>
            <a:off x="1033272" y="2433980"/>
            <a:ext cx="128016" cy="128016"/>
          </a:xfrm>
          <a:prstGeom prst="ellipse">
            <a:avLst/>
          </a:prstGeom>
          <a:solidFill>
            <a:srgbClr val="B5651D"/>
          </a:solidFill>
          <a:ln w="12700">
            <a:solidFill>
              <a:srgbClr val="FFFFFF"/>
            </a:solidFill>
            <a:prstDash val="solid"/>
          </a:ln>
        </p:spPr>
      </p:sp>
      <p:sp>
        <p:nvSpPr>
          <p:cNvPr id="17" name="Shape 15"/>
          <p:cNvSpPr/>
          <p:nvPr/>
        </p:nvSpPr>
        <p:spPr>
          <a:xfrm>
            <a:off x="1033272" y="1878677"/>
            <a:ext cx="128016" cy="128016"/>
          </a:xfrm>
          <a:prstGeom prst="ellipse">
            <a:avLst/>
          </a:prstGeom>
          <a:solidFill>
            <a:srgbClr val="B5651D"/>
          </a:solidFill>
          <a:ln w="12700">
            <a:solidFill>
              <a:srgbClr val="FFFFFF"/>
            </a:solidFill>
            <a:prstDash val="solid"/>
          </a:ln>
        </p:spPr>
      </p:sp>
      <p:sp>
        <p:nvSpPr>
          <p:cNvPr id="18" name="Shape 16"/>
          <p:cNvSpPr/>
          <p:nvPr/>
        </p:nvSpPr>
        <p:spPr>
          <a:xfrm>
            <a:off x="1033272" y="1261915"/>
            <a:ext cx="128016" cy="128016"/>
          </a:xfrm>
          <a:prstGeom prst="ellipse">
            <a:avLst/>
          </a:prstGeom>
          <a:solidFill>
            <a:srgbClr val="B5651D"/>
          </a:solidFill>
          <a:ln w="12700">
            <a:solidFill>
              <a:srgbClr val="FFFFFF"/>
            </a:solidFill>
            <a:prstDash val="solid"/>
          </a:ln>
        </p:spPr>
      </p:sp>
      <p:sp>
        <p:nvSpPr>
          <p:cNvPr id="19" name="Text 17"/>
          <p:cNvSpPr txBox="1"/>
          <p:nvPr/>
        </p:nvSpPr>
        <p:spPr>
          <a:xfrm>
            <a:off x="457200" y="4526280"/>
            <a:ext cx="8229600" cy="228600"/>
          </a:xfrm>
          <a:prstGeom prst="rect">
            <a:avLst/>
          </a:prstGeom>
          <a:noFill/>
          <a:ln/>
        </p:spPr>
        <p:txBody>
          <a:bodyPr wrap="square" lIns="0" tIns="0" rIns="0" bIns="0" rtlCol="0" anchor="ctr"/>
          <a:lstStyle/>
          <a:p>
            <a:pPr rtl="1" algn="r" indent="0" marL="0">
              <a:buNone/>
            </a:pPr>
            <a:r>
              <a:rPr lang="en-US" sz="1000" dirty="0">
                <a:solidFill>
                  <a:srgbClr val="5A625E"/>
                </a:solidFill>
                <a:latin typeface="Calibri" pitchFamily="34" charset="0"/>
                <a:ea typeface="Calibri" pitchFamily="34" charset="-122"/>
                <a:cs typeface="Calibri" pitchFamily="34" charset="-120"/>
              </a:rPr>
              <a:t>נקודות מדידה שנבדקו: Bear Lake 9,475 · Milner Pass 10,758 · Trail Ridge Road 12,183 רגל</a:t>
            </a:r>
            <a:endParaRPr lang="en-US" sz="1000" dirty="0"/>
          </a:p>
        </p:txBody>
      </p:sp>
      <p:sp>
        <p:nvSpPr>
          <p:cNvPr id="20" name="Text 18"/>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טווחי הגובה לכל מערכת הם הערכה כללית לפי מקורות NPS ולא מדידה מדויקת. תחומי המערכות תלויים בחשיפה ובקרינה [לאימות מול NPS].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Trail Ridge Road: הכביש שעובר מעל העצים</a:t>
            </a:r>
            <a:endParaRPr lang="en-US" sz="3200" dirty="0"/>
          </a:p>
        </p:txBody>
      </p:sp>
      <p:sp>
        <p:nvSpPr>
          <p:cNvPr id="3" name="Shape 1"/>
          <p:cNvSpPr/>
          <p:nvPr/>
        </p:nvSpPr>
        <p:spPr>
          <a:xfrm>
            <a:off x="457200" y="1188720"/>
            <a:ext cx="2377440" cy="1371600"/>
          </a:xfrm>
          <a:prstGeom prst="roundRect">
            <a:avLst>
              <a:gd name="adj" fmla="val 5333"/>
            </a:avLst>
          </a:prstGeom>
          <a:solidFill>
            <a:srgbClr val="EEF2EE"/>
          </a:solidFill>
          <a:ln w="6350">
            <a:solidFill>
              <a:srgbClr val="EEF2EE"/>
            </a:solidFill>
            <a:prstDash val="solid"/>
          </a:ln>
        </p:spPr>
      </p:sp>
      <p:sp>
        <p:nvSpPr>
          <p:cNvPr id="4" name="Text 2"/>
          <p:cNvSpPr txBox="1"/>
          <p:nvPr/>
        </p:nvSpPr>
        <p:spPr>
          <a:xfrm>
            <a:off x="594360" y="1371600"/>
            <a:ext cx="2103120" cy="685800"/>
          </a:xfrm>
          <a:prstGeom prst="rect">
            <a:avLst/>
          </a:prstGeom>
          <a:noFill/>
          <a:ln/>
        </p:spPr>
        <p:txBody>
          <a:bodyPr wrap="square" lIns="0" tIns="0" rIns="0" bIns="0" rtlCol="0" anchor="ctr"/>
          <a:lstStyle/>
          <a:p>
            <a:pPr algn="ctr" indent="0" marL="0">
              <a:buNone/>
            </a:pPr>
            <a:r>
              <a:rPr lang="en-US" sz="3400" b="1" dirty="0">
                <a:solidFill>
                  <a:srgbClr val="2F5D46"/>
                </a:solidFill>
                <a:latin typeface="Cambria" pitchFamily="34" charset="0"/>
                <a:ea typeface="Cambria" pitchFamily="34" charset="-122"/>
                <a:cs typeface="Cambria" pitchFamily="34" charset="-120"/>
              </a:rPr>
              <a:t>12,183</a:t>
            </a:r>
            <a:endParaRPr lang="en-US" sz="3400" dirty="0"/>
          </a:p>
        </p:txBody>
      </p:sp>
      <p:sp>
        <p:nvSpPr>
          <p:cNvPr id="5" name="Text 3"/>
          <p:cNvSpPr txBox="1"/>
          <p:nvPr/>
        </p:nvSpPr>
        <p:spPr>
          <a:xfrm>
            <a:off x="594360" y="2039112"/>
            <a:ext cx="21031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נקודה גבוהה [מאומת]</a:t>
            </a:r>
            <a:endParaRPr lang="en-US" sz="1200" dirty="0"/>
          </a:p>
        </p:txBody>
      </p:sp>
      <p:sp>
        <p:nvSpPr>
          <p:cNvPr id="6" name="Shape 4"/>
          <p:cNvSpPr/>
          <p:nvPr/>
        </p:nvSpPr>
        <p:spPr>
          <a:xfrm>
            <a:off x="3017520" y="1188720"/>
            <a:ext cx="2377440" cy="1371600"/>
          </a:xfrm>
          <a:prstGeom prst="roundRect">
            <a:avLst>
              <a:gd name="adj" fmla="val 5333"/>
            </a:avLst>
          </a:prstGeom>
          <a:solidFill>
            <a:srgbClr val="EEF2EE"/>
          </a:solidFill>
          <a:ln w="6350">
            <a:solidFill>
              <a:srgbClr val="EEF2EE"/>
            </a:solidFill>
            <a:prstDash val="solid"/>
          </a:ln>
        </p:spPr>
      </p:sp>
      <p:sp>
        <p:nvSpPr>
          <p:cNvPr id="7" name="Text 5"/>
          <p:cNvSpPr txBox="1"/>
          <p:nvPr/>
        </p:nvSpPr>
        <p:spPr>
          <a:xfrm>
            <a:off x="3154680" y="1371600"/>
            <a:ext cx="2103120" cy="685800"/>
          </a:xfrm>
          <a:prstGeom prst="rect">
            <a:avLst/>
          </a:prstGeom>
          <a:noFill/>
          <a:ln/>
        </p:spPr>
        <p:txBody>
          <a:bodyPr wrap="square" lIns="0" tIns="0" rIns="0" bIns="0" rtlCol="0" anchor="ctr"/>
          <a:lstStyle/>
          <a:p>
            <a:pPr algn="ctr" indent="0" marL="0">
              <a:buNone/>
            </a:pPr>
            <a:r>
              <a:rPr lang="en-US" sz="3400" b="1" dirty="0">
                <a:solidFill>
                  <a:srgbClr val="2C7A9B"/>
                </a:solidFill>
                <a:latin typeface="Cambria" pitchFamily="34" charset="0"/>
                <a:ea typeface="Cambria" pitchFamily="34" charset="-122"/>
                <a:cs typeface="Cambria" pitchFamily="34" charset="-120"/>
              </a:rPr>
              <a:t>~8 mi</a:t>
            </a:r>
            <a:endParaRPr lang="en-US" sz="3400" dirty="0"/>
          </a:p>
        </p:txBody>
      </p:sp>
      <p:sp>
        <p:nvSpPr>
          <p:cNvPr id="8" name="Text 6"/>
          <p:cNvSpPr txBox="1"/>
          <p:nvPr/>
        </p:nvSpPr>
        <p:spPr>
          <a:xfrm>
            <a:off x="3154680" y="2039112"/>
            <a:ext cx="21031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דרך טונדרה לפי הפארק [מאומת]</a:t>
            </a:r>
            <a:endParaRPr lang="en-US" sz="1200" dirty="0"/>
          </a:p>
        </p:txBody>
      </p:sp>
      <p:sp>
        <p:nvSpPr>
          <p:cNvPr id="9" name="Shape 7"/>
          <p:cNvSpPr/>
          <p:nvPr/>
        </p:nvSpPr>
        <p:spPr>
          <a:xfrm>
            <a:off x="5577840" y="1188720"/>
            <a:ext cx="3108960" cy="1371600"/>
          </a:xfrm>
          <a:prstGeom prst="roundRect">
            <a:avLst>
              <a:gd name="adj" fmla="val 5333"/>
            </a:avLst>
          </a:prstGeom>
          <a:solidFill>
            <a:srgbClr val="EEF2EE"/>
          </a:solidFill>
          <a:ln w="6350">
            <a:solidFill>
              <a:srgbClr val="EEF2EE"/>
            </a:solidFill>
            <a:prstDash val="solid"/>
          </a:ln>
        </p:spPr>
      </p:sp>
      <p:sp>
        <p:nvSpPr>
          <p:cNvPr id="10" name="Text 8"/>
          <p:cNvSpPr txBox="1"/>
          <p:nvPr/>
        </p:nvSpPr>
        <p:spPr>
          <a:xfrm>
            <a:off x="5715000" y="1371600"/>
            <a:ext cx="2834640" cy="685800"/>
          </a:xfrm>
          <a:prstGeom prst="rect">
            <a:avLst/>
          </a:prstGeom>
          <a:noFill/>
          <a:ln/>
        </p:spPr>
        <p:txBody>
          <a:bodyPr wrap="square" lIns="0" tIns="0" rIns="0" bIns="0" rtlCol="0" anchor="ctr"/>
          <a:lstStyle/>
          <a:p>
            <a:pPr algn="ctr" indent="0" marL="0">
              <a:buNone/>
            </a:pPr>
            <a:r>
              <a:rPr lang="en-US" sz="3400" b="1" dirty="0">
                <a:solidFill>
                  <a:srgbClr val="6E757C"/>
                </a:solidFill>
                <a:latin typeface="Cambria" pitchFamily="34" charset="0"/>
                <a:ea typeface="Cambria" pitchFamily="34" charset="-122"/>
                <a:cs typeface="Cambria" pitchFamily="34" charset="-120"/>
              </a:rPr>
              <a:t>10,758</a:t>
            </a:r>
            <a:endParaRPr lang="en-US" sz="3400" dirty="0"/>
          </a:p>
        </p:txBody>
      </p:sp>
      <p:sp>
        <p:nvSpPr>
          <p:cNvPr id="11" name="Text 9"/>
          <p:cNvSpPr txBox="1"/>
          <p:nvPr/>
        </p:nvSpPr>
        <p:spPr>
          <a:xfrm>
            <a:off x="5715000" y="2039112"/>
            <a:ext cx="283464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רגל · Milner Pass, קו הפרשה [מאומת]</a:t>
            </a:r>
            <a:endParaRPr lang="en-US" sz="1200" dirty="0"/>
          </a:p>
        </p:txBody>
      </p:sp>
      <p:sp>
        <p:nvSpPr>
          <p:cNvPr id="12" name="Text 10"/>
          <p:cNvSpPr txBox="1"/>
          <p:nvPr/>
        </p:nvSpPr>
        <p:spPr>
          <a:xfrm>
            <a:off x="457200" y="2834640"/>
            <a:ext cx="8229600" cy="173736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הכביש חוצה את הפארק מעל קו העצים. החוויה משתנה מאזור יער לטונדרה תוך נסיעה של כמה דקות.</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בתחנת Alpine Visitor Center מתחיל אזור ההליכה הראשון בטונדרה, עם שבילים קצרים ושלטים.</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הכביש גבוה ולכן נסיעה בו מתאימה למזג אוויר יציב. בסופה יש סיכון ממשי, וכדאי לשים לב לתחזית לפני היציאה.</a:t>
            </a:r>
            <a:endParaRPr lang="en-US" sz="1400" dirty="0"/>
          </a:p>
        </p:txBody>
      </p:sp>
      <p:sp>
        <p:nvSpPr>
          <p:cNvPr id="13" name="Text 1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(Trail Ridge Road), rockymountainnationalpark.com (תיאור ה-8 מייל), Wikipedia (מעמד הכביש: 'הכביש הגבוה ביותר בצפון אמריקה' – לאימות).</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אזור Bear Lake: מסלולים מרכזיים</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1645920"/>
                <a:gridCol w="2103120"/>
                <a:gridCol w="2468880"/>
              </a:tblGrid>
              <a:tr h="457200">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מסלול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מרחק (כיוון אחד)</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הפרש גובה (מ-Bear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הערה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Bear Lake Loop</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0.6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71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הקל ביותר, מתאים לכל המשפחה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Nymph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0.5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231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אגם יער קטן, נוח לפתיחה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Dream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1.1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474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אגם עם רכסים בצד</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Emerald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1.7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771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שיא נוף לחלק הזה של השביל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Mills Lake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2.8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727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מסלול ארוך יותר, מתאים לחלק מהמשפחה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57200">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Flattop Mountain</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4.2 mi</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2,866 רגל</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מאתגר: לפני המעבר, מזג אוויר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 NPS, Exploring the Bear Lake Road Corridor (טבלת מרחקים והפרשי גובה). מרחקים לכיוון אחד; ההליכה הלוך ושוב כפולה. Alberta Falls לא נכלל בטבלה ולכן לא מופיע כאן [לאימות].</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אגמים ונחלים: מה רואים בכל אחד</a:t>
            </a:r>
            <a:endParaRPr lang="en-US" sz="3200" dirty="0"/>
          </a:p>
        </p:txBody>
      </p:sp>
      <p:sp>
        <p:nvSpPr>
          <p:cNvPr id="3" name="Shape 1"/>
          <p:cNvSpPr/>
          <p:nvPr/>
        </p:nvSpPr>
        <p:spPr>
          <a:xfrm>
            <a:off x="457200" y="1188720"/>
            <a:ext cx="2606040" cy="2286000"/>
          </a:xfrm>
          <a:prstGeom prst="roundRect">
            <a:avLst>
              <a:gd name="adj" fmla="val 3200"/>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Dream Lake</a:t>
            </a:r>
            <a:endParaRPr lang="en-US" sz="1500" dirty="0"/>
          </a:p>
        </p:txBody>
      </p:sp>
      <p:sp>
        <p:nvSpPr>
          <p:cNvPr id="5" name="Text 3"/>
          <p:cNvSpPr txBox="1"/>
          <p:nvPr/>
        </p:nvSpPr>
        <p:spPr>
          <a:xfrm>
            <a:off x="621792" y="1737360"/>
            <a:ext cx="2276856" cy="16276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אגם קרחוני בתוך מעגל ההרים. המסלול אליו הוא אחד הנוחים והמוכרים ביותר בפארק.</a:t>
            </a:r>
            <a:endParaRPr lang="en-US" sz="1250" dirty="0"/>
          </a:p>
        </p:txBody>
      </p:sp>
      <p:sp>
        <p:nvSpPr>
          <p:cNvPr id="6" name="Shape 4"/>
          <p:cNvSpPr/>
          <p:nvPr/>
        </p:nvSpPr>
        <p:spPr>
          <a:xfrm>
            <a:off x="3268980" y="1188720"/>
            <a:ext cx="2606040" cy="2286000"/>
          </a:xfrm>
          <a:prstGeom prst="roundRect">
            <a:avLst>
              <a:gd name="adj" fmla="val 3200"/>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Emerald Lake</a:t>
            </a:r>
            <a:endParaRPr lang="en-US" sz="1500" dirty="0"/>
          </a:p>
        </p:txBody>
      </p:sp>
      <p:sp>
        <p:nvSpPr>
          <p:cNvPr id="8" name="Text 6"/>
          <p:cNvSpPr txBox="1"/>
          <p:nvPr/>
        </p:nvSpPr>
        <p:spPr>
          <a:xfrm>
            <a:off x="3433572" y="1737360"/>
            <a:ext cx="2276856" cy="16276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אגם תלוי מעל Dream Lake, עם נוף לרכסים. מסלול ארוך יותר שדורש כושר בסיסי.</a:t>
            </a:r>
            <a:endParaRPr lang="en-US" sz="1250" dirty="0"/>
          </a:p>
        </p:txBody>
      </p:sp>
      <p:sp>
        <p:nvSpPr>
          <p:cNvPr id="9" name="Shape 7"/>
          <p:cNvSpPr/>
          <p:nvPr/>
        </p:nvSpPr>
        <p:spPr>
          <a:xfrm>
            <a:off x="6080760" y="1188720"/>
            <a:ext cx="2606040" cy="2286000"/>
          </a:xfrm>
          <a:prstGeom prst="roundRect">
            <a:avLst>
              <a:gd name="adj" fmla="val 3200"/>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Alberta Falls</a:t>
            </a:r>
            <a:endParaRPr lang="en-US" sz="1500" dirty="0"/>
          </a:p>
        </p:txBody>
      </p:sp>
      <p:sp>
        <p:nvSpPr>
          <p:cNvPr id="11" name="Text 9"/>
          <p:cNvSpPr txBox="1"/>
          <p:nvPr/>
        </p:nvSpPr>
        <p:spPr>
          <a:xfrm>
            <a:off x="6245352" y="1737360"/>
            <a:ext cx="2276856" cy="16276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מפל שניתן להגיע אליו בשביל קצר ומתון. זמנים ומרחקים מדויקים טרם נאספו [לאימות].</a:t>
            </a:r>
            <a:endParaRPr lang="en-US" sz="1250" dirty="0"/>
          </a:p>
        </p:txBody>
      </p:sp>
      <p:sp>
        <p:nvSpPr>
          <p:cNvPr id="12" name="Text 10"/>
          <p:cNvSpPr txBox="1"/>
          <p:nvPr/>
        </p:nvSpPr>
        <p:spPr>
          <a:xfrm>
            <a:off x="457200" y="3657600"/>
            <a:ext cx="8229600" cy="822960"/>
          </a:xfrm>
          <a:prstGeom prst="rect">
            <a:avLst/>
          </a:prstGeom>
          <a:noFill/>
          <a:ln/>
        </p:spPr>
        <p:txBody>
          <a:bodyPr wrap="square" lIns="0" tIns="0" rIns="0" bIns="0" rtlCol="0" anchor="t"/>
          <a:lstStyle/>
          <a:p>
            <a:pPr rtl="1" algn="r" indent="0" marL="0">
              <a:buNone/>
            </a:pPr>
            <a:r>
              <a:rPr lang="en-US" sz="1300" dirty="0">
                <a:solidFill>
                  <a:srgbClr val="1E2421"/>
                </a:solidFill>
                <a:latin typeface="Calibri" pitchFamily="34" charset="0"/>
                <a:ea typeface="Calibri" pitchFamily="34" charset="-122"/>
                <a:cs typeface="Calibri" pitchFamily="34" charset="-120"/>
              </a:rPr>
              <a:t>Mills Lake, Odessa Lake ו-Bierstadt Lake הם יעדים נוספים, עם מרחקים והפרשי גובה מטבלת NPS (ראו שקופית קודמת). ההבדל בין שביל משפחתי לשביל ארוך ברור מהמספרים.</a:t>
            </a:r>
            <a:endParaRPr lang="en-US" sz="1300" dirty="0"/>
          </a:p>
        </p:txBody>
      </p:sp>
      <p:sp>
        <p:nvSpPr>
          <p:cNvPr id="13" name="Text 1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(Bear Lake Road Corridor), alltrails.com. תיאורי האגמים כלליים; מידע על מפלים נוספים לא נבדק [לאימות].</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בעלי חיים ב-RMNP: איפה מחפשים</a:t>
            </a:r>
            <a:endParaRPr lang="en-US" sz="3200" dirty="0"/>
          </a:p>
        </p:txBody>
      </p:sp>
      <p:sp>
        <p:nvSpPr>
          <p:cNvPr id="3" name="Shape 1"/>
          <p:cNvSpPr/>
          <p:nvPr/>
        </p:nvSpPr>
        <p:spPr>
          <a:xfrm>
            <a:off x="457200" y="1188720"/>
            <a:ext cx="2606040" cy="1600200"/>
          </a:xfrm>
          <a:prstGeom prst="roundRect">
            <a:avLst>
              <a:gd name="adj" fmla="val 4571"/>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400" b="1" dirty="0">
                <a:solidFill>
                  <a:srgbClr val="2F5D46"/>
                </a:solidFill>
                <a:latin typeface="Cambria" pitchFamily="34" charset="0"/>
                <a:ea typeface="Cambria" pitchFamily="34" charset="-122"/>
                <a:cs typeface="Cambria" pitchFamily="34" charset="-120"/>
              </a:rPr>
              <a:t>Elk (אייל)</a:t>
            </a:r>
            <a:endParaRPr lang="en-US" sz="1400" dirty="0"/>
          </a:p>
        </p:txBody>
      </p:sp>
      <p:sp>
        <p:nvSpPr>
          <p:cNvPr id="5" name="Text 3"/>
          <p:cNvSpPr txBox="1"/>
          <p:nvPr/>
        </p:nvSpPr>
        <p:spPr>
          <a:xfrm>
            <a:off x="621792" y="1737360"/>
            <a:ext cx="2276856" cy="941832"/>
          </a:xfrm>
          <a:prstGeom prst="rect">
            <a:avLst/>
          </a:prstGeom>
          <a:noFill/>
          <a:ln/>
        </p:spPr>
        <p:txBody>
          <a:bodyPr wrap="square" lIns="0" tIns="0" rIns="0" bIns="0" rtlCol="0" anchor="t"/>
          <a:lstStyle/>
          <a:p>
            <a:pPr rtl="1" algn="r" indent="0" marL="0">
              <a:buNone/>
            </a:pPr>
            <a:r>
              <a:rPr lang="en-US" sz="1150" dirty="0">
                <a:solidFill>
                  <a:srgbClr val="1E2421"/>
                </a:solidFill>
                <a:latin typeface="Calibri" pitchFamily="34" charset="0"/>
                <a:ea typeface="Calibri" pitchFamily="34" charset="-122"/>
                <a:cs typeface="Calibri" pitchFamily="34" charset="-120"/>
              </a:rPr>
              <a:t>מדשאות של Moraine Park ולאורך כבישים. נראים לעיתים קרובות בשעות הערב.</a:t>
            </a:r>
            <a:endParaRPr lang="en-US" sz="1150" dirty="0"/>
          </a:p>
        </p:txBody>
      </p:sp>
      <p:sp>
        <p:nvSpPr>
          <p:cNvPr id="6" name="Shape 4"/>
          <p:cNvSpPr/>
          <p:nvPr/>
        </p:nvSpPr>
        <p:spPr>
          <a:xfrm>
            <a:off x="3268980" y="1188720"/>
            <a:ext cx="2606040" cy="1600200"/>
          </a:xfrm>
          <a:prstGeom prst="roundRect">
            <a:avLst>
              <a:gd name="adj" fmla="val 4571"/>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400" b="1" dirty="0">
                <a:solidFill>
                  <a:srgbClr val="2F5D46"/>
                </a:solidFill>
                <a:latin typeface="Cambria" pitchFamily="34" charset="0"/>
                <a:ea typeface="Cambria" pitchFamily="34" charset="-122"/>
                <a:cs typeface="Cambria" pitchFamily="34" charset="-120"/>
              </a:rPr>
              <a:t>Moose (איילה)</a:t>
            </a:r>
            <a:endParaRPr lang="en-US" sz="1400" dirty="0"/>
          </a:p>
        </p:txBody>
      </p:sp>
      <p:sp>
        <p:nvSpPr>
          <p:cNvPr id="8" name="Text 6"/>
          <p:cNvSpPr txBox="1"/>
          <p:nvPr/>
        </p:nvSpPr>
        <p:spPr>
          <a:xfrm>
            <a:off x="3433572" y="1737360"/>
            <a:ext cx="2276856" cy="941832"/>
          </a:xfrm>
          <a:prstGeom prst="rect">
            <a:avLst/>
          </a:prstGeom>
          <a:noFill/>
          <a:ln/>
        </p:spPr>
        <p:txBody>
          <a:bodyPr wrap="square" lIns="0" tIns="0" rIns="0" bIns="0" rtlCol="0" anchor="t"/>
          <a:lstStyle/>
          <a:p>
            <a:pPr rtl="1" algn="r" indent="0" marL="0">
              <a:buNone/>
            </a:pPr>
            <a:r>
              <a:rPr lang="en-US" sz="1150" dirty="0">
                <a:solidFill>
                  <a:srgbClr val="1E2421"/>
                </a:solidFill>
                <a:latin typeface="Calibri" pitchFamily="34" charset="0"/>
                <a:ea typeface="Calibri" pitchFamily="34" charset="-122"/>
                <a:cs typeface="Calibri" pitchFamily="34" charset="-120"/>
              </a:rPr>
              <a:t>ביצות ואזורי נחלים. הם גדולים ויכולים להיות מסוכנים כשהם מוגנים על ידי צאצאים.</a:t>
            </a:r>
            <a:endParaRPr lang="en-US" sz="1150" dirty="0"/>
          </a:p>
        </p:txBody>
      </p:sp>
      <p:sp>
        <p:nvSpPr>
          <p:cNvPr id="9" name="Shape 7"/>
          <p:cNvSpPr/>
          <p:nvPr/>
        </p:nvSpPr>
        <p:spPr>
          <a:xfrm>
            <a:off x="6080760" y="1188720"/>
            <a:ext cx="2606040" cy="1600200"/>
          </a:xfrm>
          <a:prstGeom prst="roundRect">
            <a:avLst>
              <a:gd name="adj" fmla="val 4571"/>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400" b="1" dirty="0">
                <a:solidFill>
                  <a:srgbClr val="2F5D46"/>
                </a:solidFill>
                <a:latin typeface="Cambria" pitchFamily="34" charset="0"/>
                <a:ea typeface="Cambria" pitchFamily="34" charset="-122"/>
                <a:cs typeface="Cambria" pitchFamily="34" charset="-120"/>
              </a:rPr>
              <a:t>Bighorn Sheep (כבש הרים)</a:t>
            </a:r>
            <a:endParaRPr lang="en-US" sz="1400" dirty="0"/>
          </a:p>
        </p:txBody>
      </p:sp>
      <p:sp>
        <p:nvSpPr>
          <p:cNvPr id="11" name="Text 9"/>
          <p:cNvSpPr txBox="1"/>
          <p:nvPr/>
        </p:nvSpPr>
        <p:spPr>
          <a:xfrm>
            <a:off x="6245352" y="1737360"/>
            <a:ext cx="2276856" cy="941832"/>
          </a:xfrm>
          <a:prstGeom prst="rect">
            <a:avLst/>
          </a:prstGeom>
          <a:noFill/>
          <a:ln/>
        </p:spPr>
        <p:txBody>
          <a:bodyPr wrap="square" lIns="0" tIns="0" rIns="0" bIns="0" rtlCol="0" anchor="t"/>
          <a:lstStyle/>
          <a:p>
            <a:pPr rtl="1" algn="r" indent="0" marL="0">
              <a:buNone/>
            </a:pPr>
            <a:r>
              <a:rPr lang="en-US" sz="1150" dirty="0">
                <a:solidFill>
                  <a:srgbClr val="1E2421"/>
                </a:solidFill>
                <a:latin typeface="Calibri" pitchFamily="34" charset="0"/>
                <a:ea typeface="Calibri" pitchFamily="34" charset="-122"/>
                <a:cs typeface="Calibri" pitchFamily="34" charset="-120"/>
              </a:rPr>
              <a:t>מדרונות סלע בגבהים. נראים בעיקר בבוקר או בערב.</a:t>
            </a:r>
            <a:endParaRPr lang="en-US" sz="1150" dirty="0"/>
          </a:p>
        </p:txBody>
      </p:sp>
      <p:sp>
        <p:nvSpPr>
          <p:cNvPr id="12" name="Shape 10"/>
          <p:cNvSpPr/>
          <p:nvPr/>
        </p:nvSpPr>
        <p:spPr>
          <a:xfrm>
            <a:off x="457200" y="2971800"/>
            <a:ext cx="2606040" cy="1600200"/>
          </a:xfrm>
          <a:prstGeom prst="roundRect">
            <a:avLst>
              <a:gd name="adj" fmla="val 4571"/>
            </a:avLst>
          </a:prstGeom>
          <a:solidFill>
            <a:srgbClr val="EEF2EE"/>
          </a:solidFill>
          <a:ln w="6350">
            <a:solidFill>
              <a:srgbClr val="EEF2EE"/>
            </a:solidFill>
            <a:prstDash val="solid"/>
          </a:ln>
        </p:spPr>
      </p:sp>
      <p:sp>
        <p:nvSpPr>
          <p:cNvPr id="13" name="Text 11"/>
          <p:cNvSpPr txBox="1"/>
          <p:nvPr/>
        </p:nvSpPr>
        <p:spPr>
          <a:xfrm>
            <a:off x="621792" y="3099816"/>
            <a:ext cx="2276856" cy="384048"/>
          </a:xfrm>
          <a:prstGeom prst="rect">
            <a:avLst/>
          </a:prstGeom>
          <a:noFill/>
          <a:ln/>
        </p:spPr>
        <p:txBody>
          <a:bodyPr wrap="square" lIns="0" tIns="0" rIns="0" bIns="0" rtlCol="0" anchor="ctr"/>
          <a:lstStyle/>
          <a:p>
            <a:pPr rtl="1" algn="r" indent="0" marL="0">
              <a:buNone/>
            </a:pPr>
            <a:r>
              <a:rPr lang="en-US" sz="1400" b="1" dirty="0">
                <a:solidFill>
                  <a:srgbClr val="2F5D46"/>
                </a:solidFill>
                <a:latin typeface="Cambria" pitchFamily="34" charset="0"/>
                <a:ea typeface="Cambria" pitchFamily="34" charset="-122"/>
                <a:cs typeface="Cambria" pitchFamily="34" charset="-120"/>
              </a:rPr>
              <a:t>Marmots (מרמוטה)</a:t>
            </a:r>
            <a:endParaRPr lang="en-US" sz="1400" dirty="0"/>
          </a:p>
        </p:txBody>
      </p:sp>
      <p:sp>
        <p:nvSpPr>
          <p:cNvPr id="14" name="Text 12"/>
          <p:cNvSpPr txBox="1"/>
          <p:nvPr/>
        </p:nvSpPr>
        <p:spPr>
          <a:xfrm>
            <a:off x="621792" y="3520440"/>
            <a:ext cx="2276856" cy="941832"/>
          </a:xfrm>
          <a:prstGeom prst="rect">
            <a:avLst/>
          </a:prstGeom>
          <a:noFill/>
          <a:ln/>
        </p:spPr>
        <p:txBody>
          <a:bodyPr wrap="square" lIns="0" tIns="0" rIns="0" bIns="0" rtlCol="0" anchor="t"/>
          <a:lstStyle/>
          <a:p>
            <a:pPr rtl="1" algn="r" indent="0" marL="0">
              <a:buNone/>
            </a:pPr>
            <a:r>
              <a:rPr lang="en-US" sz="1150" dirty="0">
                <a:solidFill>
                  <a:srgbClr val="1E2421"/>
                </a:solidFill>
                <a:latin typeface="Calibri" pitchFamily="34" charset="0"/>
                <a:ea typeface="Calibri" pitchFamily="34" charset="-122"/>
                <a:cs typeface="Calibri" pitchFamily="34" charset="-120"/>
              </a:rPr>
              <a:t>סלעים וטונדרה. נמצאים ליד השבילים בגבהים.</a:t>
            </a:r>
            <a:endParaRPr lang="en-US" sz="1150" dirty="0"/>
          </a:p>
        </p:txBody>
      </p:sp>
      <p:sp>
        <p:nvSpPr>
          <p:cNvPr id="15" name="Shape 13"/>
          <p:cNvSpPr/>
          <p:nvPr/>
        </p:nvSpPr>
        <p:spPr>
          <a:xfrm>
            <a:off x="3268980" y="2971800"/>
            <a:ext cx="2606040" cy="1600200"/>
          </a:xfrm>
          <a:prstGeom prst="roundRect">
            <a:avLst>
              <a:gd name="adj" fmla="val 4571"/>
            </a:avLst>
          </a:prstGeom>
          <a:solidFill>
            <a:srgbClr val="EEF2EE"/>
          </a:solidFill>
          <a:ln w="6350">
            <a:solidFill>
              <a:srgbClr val="EEF2EE"/>
            </a:solidFill>
            <a:prstDash val="solid"/>
          </a:ln>
        </p:spPr>
      </p:sp>
      <p:sp>
        <p:nvSpPr>
          <p:cNvPr id="16" name="Text 14"/>
          <p:cNvSpPr txBox="1"/>
          <p:nvPr/>
        </p:nvSpPr>
        <p:spPr>
          <a:xfrm>
            <a:off x="3433572" y="3099816"/>
            <a:ext cx="2276856" cy="384048"/>
          </a:xfrm>
          <a:prstGeom prst="rect">
            <a:avLst/>
          </a:prstGeom>
          <a:noFill/>
          <a:ln/>
        </p:spPr>
        <p:txBody>
          <a:bodyPr wrap="square" lIns="0" tIns="0" rIns="0" bIns="0" rtlCol="0" anchor="ctr"/>
          <a:lstStyle/>
          <a:p>
            <a:pPr rtl="1" algn="r" indent="0" marL="0">
              <a:buNone/>
            </a:pPr>
            <a:r>
              <a:rPr lang="en-US" sz="1400" b="1" dirty="0">
                <a:solidFill>
                  <a:srgbClr val="2F5D46"/>
                </a:solidFill>
                <a:latin typeface="Cambria" pitchFamily="34" charset="0"/>
                <a:ea typeface="Cambria" pitchFamily="34" charset="-122"/>
                <a:cs typeface="Cambria" pitchFamily="34" charset="-120"/>
              </a:rPr>
              <a:t>Pikas (פיקה)</a:t>
            </a:r>
            <a:endParaRPr lang="en-US" sz="1400" dirty="0"/>
          </a:p>
        </p:txBody>
      </p:sp>
      <p:sp>
        <p:nvSpPr>
          <p:cNvPr id="17" name="Text 15"/>
          <p:cNvSpPr txBox="1"/>
          <p:nvPr/>
        </p:nvSpPr>
        <p:spPr>
          <a:xfrm>
            <a:off x="3433572" y="3520440"/>
            <a:ext cx="2276856" cy="941832"/>
          </a:xfrm>
          <a:prstGeom prst="rect">
            <a:avLst/>
          </a:prstGeom>
          <a:noFill/>
          <a:ln/>
        </p:spPr>
        <p:txBody>
          <a:bodyPr wrap="square" lIns="0" tIns="0" rIns="0" bIns="0" rtlCol="0" anchor="t"/>
          <a:lstStyle/>
          <a:p>
            <a:pPr rtl="1" algn="r" indent="0" marL="0">
              <a:buNone/>
            </a:pPr>
            <a:r>
              <a:rPr lang="en-US" sz="1150" dirty="0">
                <a:solidFill>
                  <a:srgbClr val="1E2421"/>
                </a:solidFill>
                <a:latin typeface="Calibri" pitchFamily="34" charset="0"/>
                <a:ea typeface="Calibri" pitchFamily="34" charset="-122"/>
                <a:cs typeface="Calibri" pitchFamily="34" charset="-120"/>
              </a:rPr>
              <a:t>שדות סלע בטונדרה. קטנה ומשמיעה קול. לא לגעת ולא להאכיל.</a:t>
            </a:r>
            <a:endParaRPr lang="en-US" sz="1150" dirty="0"/>
          </a:p>
        </p:txBody>
      </p:sp>
      <p:sp>
        <p:nvSpPr>
          <p:cNvPr id="18" name="Text 16"/>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 NPS (Wildlife), ידע כללי על התנהגות החיות. מרחק בטוח מחיות בר הוא לפי הוראות NPS: לפחות 23 מטר מאיילה וממינים גדולים אחרים [לאימות].</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תוכנית RMNP: 6 ימים</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57200"/>
                <a:gridCol w="2651760"/>
                <a:gridCol w="1737360"/>
                <a:gridCol w="1371600"/>
                <a:gridCol w="1097280"/>
                <a:gridCol w="914400"/>
              </a:tblGrid>
              <a:tr h="438912">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יום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מיקוד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מרחק</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הפרש גובה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קושי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מה מיוחד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הגעה, Moraine Park וצפייה בחיות בערב</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אייל על המדשאה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Bear Lake · Nymph &amp; Dream Lake</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0.5–1.1 mi לכיוון אחד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231–474 רגל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קל–בינוני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נוף אגמים קלאסי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Emerald Lake · Alberta Falls</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1.7 mi לכיוון אחד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771 רגל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שביל משפחתי עם נוף</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Mills Lake</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2.8 mi לכיוון אחד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727 רגל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אגם בתוך רכס</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Trail Ridge Road · Alpine Visitor Center</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~8 mi טונדרה (כביש)</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עד 12,183 רגל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נסיעה + הליכות קצרות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טונדרה, פיקה, מרמוטה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38912">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Wild Basin או יום חיץ</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אזור דרום-מערב, לאימות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מרחקים לכיוון אחד (NPS). Trail Ridge: rockymountainnationalpark.com. Wild Basin ו-Moraine Park לא נבדקו [לאימות].</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השוואה בין שלושת האזורים</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2103120"/>
                <a:gridCol w="2103120"/>
                <a:gridCol w="2103120"/>
              </a:tblGrid>
              <a:tr h="310896">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מאפיין</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Colorado Springs</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San Juan</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050" b="1" dirty="0">
                          <a:solidFill>
                            <a:srgbClr val="FFFFFF"/>
                          </a:solidFill>
                          <a:latin typeface="Calibri" pitchFamily="34" charset="0"/>
                          <a:ea typeface="Calibri" pitchFamily="34" charset="-122"/>
                          <a:cs typeface="Calibri" pitchFamily="34" charset="-120"/>
                        </a:rPr>
                        <a:t>RMNP</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סוג נוף</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קניונים, צוקים, שולי הרים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רכסים געשיים וקרחונים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רכס קונטיננטלי ויער-טונדרה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פסגה מרכזית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Pikes Peak 14,115</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Ice Lake נקודה מרבית 12,260</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Trail Ridge 12,183</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יערות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פונדרוסה, דאגלס</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אשוחית, אשוח, אספן</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דאגלס, אשוחית, לודג'פול</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אגמים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מועט</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Ice Lake, Blue Lakes</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Dream, Emerald, Mills</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מפלים ונחלים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Helen Hunt Falls, נחלים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נחלים אלפיניים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Alberta Falls, נחלי הרכס</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פרחי בר</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נמוך בערך</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שיא באוגוסט</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שיא באוגוסט בגבהים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בעלי חיים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יונקים קטנים, ציפורים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אייל, מרמוטה, פיקה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אייל, איילה, כבש הרים, פיקה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פראיות ובידוד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נמוך</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גבוה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 (יעדים פופולריים)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צפיפות מטיילים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גבוהה</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נמוכה–בינונית</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גבוהה מאוד (בעיקר בקיץ)</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מסלולים קלים/מאתגרים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קלים ובינוניים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בינוני עד מאתגר</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שילוב, כולל קלים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310896">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סיכוי לשלג באוגוסט</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נמוך מאוד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נמוך (גבוה מאוד)</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050" dirty="0">
                          <a:solidFill>
                            <a:srgbClr val="1E2421"/>
                          </a:solidFill>
                          <a:latin typeface="Calibri" pitchFamily="34" charset="0"/>
                          <a:ea typeface="Calibri" pitchFamily="34" charset="-122"/>
                          <a:cs typeface="Calibri" pitchFamily="34" charset="-120"/>
                        </a:rPr>
                        <a:t>נמוך (בגבהים גבוהים)</a:t>
                      </a:r>
                      <a:endParaRPr lang="en-US" sz="105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ההשוואה מבוססת על הנתונים שנבדקו במצגת. סעיפי הפראיות, הצפיפות וסיכוי השלג הם הערכה איכותית בלבד [לאימות].</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מה אי אפשר למצוא באזור אחר</a:t>
            </a:r>
            <a:endParaRPr lang="en-US" sz="3200" dirty="0"/>
          </a:p>
        </p:txBody>
      </p:sp>
      <p:sp>
        <p:nvSpPr>
          <p:cNvPr id="3" name="Shape 1"/>
          <p:cNvSpPr/>
          <p:nvPr/>
        </p:nvSpPr>
        <p:spPr>
          <a:xfrm>
            <a:off x="457200" y="1188720"/>
            <a:ext cx="2606040" cy="3200400"/>
          </a:xfrm>
          <a:prstGeom prst="roundRect">
            <a:avLst>
              <a:gd name="adj" fmla="val 2807"/>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600" b="1" dirty="0">
                <a:solidFill>
                  <a:srgbClr val="B5651D"/>
                </a:solidFill>
                <a:latin typeface="Cambria" pitchFamily="34" charset="0"/>
                <a:ea typeface="Cambria" pitchFamily="34" charset="-122"/>
                <a:cs typeface="Cambria" pitchFamily="34" charset="-120"/>
              </a:rPr>
              <a:t>Colorado Springs</a:t>
            </a:r>
            <a:endParaRPr lang="en-US" sz="1600" dirty="0"/>
          </a:p>
        </p:txBody>
      </p:sp>
      <p:sp>
        <p:nvSpPr>
          <p:cNvPr id="5" name="Text 3"/>
          <p:cNvSpPr txBox="1"/>
          <p:nvPr/>
        </p:nvSpPr>
        <p:spPr>
          <a:xfrm>
            <a:off x="621792" y="1737360"/>
            <a:ext cx="2276856" cy="25420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צוקי סלע אדום מול הרי הרוקי, עם גישה מהירה לפסגה של 14,115 רגל דרך כביש.</a:t>
            </a:r>
            <a:endParaRPr lang="en-US" sz="1250" dirty="0"/>
          </a:p>
        </p:txBody>
      </p:sp>
      <p:sp>
        <p:nvSpPr>
          <p:cNvPr id="6" name="Shape 4"/>
          <p:cNvSpPr/>
          <p:nvPr/>
        </p:nvSpPr>
        <p:spPr>
          <a:xfrm>
            <a:off x="3268980" y="1188720"/>
            <a:ext cx="2606040" cy="3200400"/>
          </a:xfrm>
          <a:prstGeom prst="roundRect">
            <a:avLst>
              <a:gd name="adj" fmla="val 2807"/>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600" b="1" dirty="0">
                <a:solidFill>
                  <a:srgbClr val="2C7A9B"/>
                </a:solidFill>
                <a:latin typeface="Cambria" pitchFamily="34" charset="0"/>
                <a:ea typeface="Cambria" pitchFamily="34" charset="-122"/>
                <a:cs typeface="Cambria" pitchFamily="34" charset="-120"/>
              </a:rPr>
              <a:t>San Juan</a:t>
            </a:r>
            <a:endParaRPr lang="en-US" sz="1600" dirty="0"/>
          </a:p>
        </p:txBody>
      </p:sp>
      <p:sp>
        <p:nvSpPr>
          <p:cNvPr id="8" name="Text 6"/>
          <p:cNvSpPr txBox="1"/>
          <p:nvPr/>
        </p:nvSpPr>
        <p:spPr>
          <a:xfrm>
            <a:off x="3433572" y="1737360"/>
            <a:ext cx="2276856" cy="25420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נוף געשי-קרחוני רחוק ומבודד. אגמים בגבהים גבוהים ו-Million Dollar Highway שמחבר עיירות היסטוריות.</a:t>
            </a:r>
            <a:endParaRPr lang="en-US" sz="1250" dirty="0"/>
          </a:p>
        </p:txBody>
      </p:sp>
      <p:sp>
        <p:nvSpPr>
          <p:cNvPr id="9" name="Shape 7"/>
          <p:cNvSpPr/>
          <p:nvPr/>
        </p:nvSpPr>
        <p:spPr>
          <a:xfrm>
            <a:off x="6080760" y="1188720"/>
            <a:ext cx="2606040" cy="3200400"/>
          </a:xfrm>
          <a:prstGeom prst="roundRect">
            <a:avLst>
              <a:gd name="adj" fmla="val 2807"/>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600" b="1" dirty="0">
                <a:solidFill>
                  <a:srgbClr val="2F5D46"/>
                </a:solidFill>
                <a:latin typeface="Cambria" pitchFamily="34" charset="0"/>
                <a:ea typeface="Cambria" pitchFamily="34" charset="-122"/>
                <a:cs typeface="Cambria" pitchFamily="34" charset="-120"/>
              </a:rPr>
              <a:t>RMNP</a:t>
            </a:r>
            <a:endParaRPr lang="en-US" sz="1600" dirty="0"/>
          </a:p>
        </p:txBody>
      </p:sp>
      <p:sp>
        <p:nvSpPr>
          <p:cNvPr id="11" name="Text 9"/>
          <p:cNvSpPr txBox="1"/>
          <p:nvPr/>
        </p:nvSpPr>
        <p:spPr>
          <a:xfrm>
            <a:off x="6245352" y="1737360"/>
            <a:ext cx="2276856" cy="254203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כביש שחוצה טונדרה בגובה 12,183 רגל, שלוש מערכות אקולוגיות במרחק קצר, וחיות בר שניתן לראות מהכביש.</a:t>
            </a:r>
            <a:endParaRPr lang="en-US" sz="1250" dirty="0"/>
          </a:p>
        </p:txBody>
      </p:sp>
      <p:sp>
        <p:nvSpPr>
          <p:cNvPr id="12" name="Text 10"/>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ראו שקופיות האזורים. ההשוואה איכותית ואינה מדד מדעי.</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מפת הביקור וסדר האזורים</a:t>
            </a:r>
            <a:endParaRPr lang="en-US" sz="3200" dirty="0"/>
          </a:p>
        </p:txBody>
      </p:sp>
      <p:sp>
        <p:nvSpPr>
          <p:cNvPr id="3" name="Shape 1"/>
          <p:cNvSpPr/>
          <p:nvPr/>
        </p:nvSpPr>
        <p:spPr>
          <a:xfrm>
            <a:off x="548640" y="1234440"/>
            <a:ext cx="4754880" cy="3200400"/>
          </a:xfrm>
          <a:prstGeom prst="rect">
            <a:avLst/>
          </a:prstGeom>
          <a:solidFill>
            <a:srgbClr val="E6ECE4"/>
          </a:solidFill>
          <a:ln w="12700">
            <a:solidFill>
              <a:srgbClr val="8A958E"/>
            </a:solidFill>
            <a:prstDash val="solid"/>
          </a:ln>
        </p:spPr>
      </p:sp>
      <p:sp>
        <p:nvSpPr>
          <p:cNvPr id="4" name="Text 2"/>
          <p:cNvSpPr txBox="1"/>
          <p:nvPr/>
        </p:nvSpPr>
        <p:spPr>
          <a:xfrm>
            <a:off x="640080" y="4114800"/>
            <a:ext cx="2194560" cy="256032"/>
          </a:xfrm>
          <a:prstGeom prst="rect">
            <a:avLst/>
          </a:prstGeom>
          <a:noFill/>
          <a:ln/>
        </p:spPr>
        <p:txBody>
          <a:bodyPr wrap="square" lIns="0" tIns="0" rIns="0" bIns="0" rtlCol="0" anchor="ctr"/>
          <a:lstStyle/>
          <a:p>
            <a:pPr rtl="1" algn="l" indent="0" marL="0">
              <a:buNone/>
            </a:pPr>
            <a:r>
              <a:rPr lang="en-US" sz="1000" i="1" dirty="0">
                <a:solidFill>
                  <a:srgbClr val="5A625E"/>
                </a:solidFill>
                <a:latin typeface="Calibri" pitchFamily="34" charset="0"/>
                <a:ea typeface="Calibri" pitchFamily="34" charset="-122"/>
                <a:cs typeface="Calibri" pitchFamily="34" charset="-120"/>
              </a:rPr>
              <a:t>קולורדו (מתאר סכמטי)</a:t>
            </a:r>
            <a:endParaRPr lang="en-US" sz="1000" dirty="0"/>
          </a:p>
        </p:txBody>
      </p:sp>
      <p:sp>
        <p:nvSpPr>
          <p:cNvPr id="5" name="Shape 3"/>
          <p:cNvSpPr/>
          <p:nvPr/>
        </p:nvSpPr>
        <p:spPr>
          <a:xfrm flipV="1">
            <a:off x="1484693" y="2970657"/>
            <a:ext cx="1933154" cy="704088"/>
          </a:xfrm>
          <a:prstGeom prst="line">
            <a:avLst/>
          </a:prstGeom>
          <a:noFill/>
          <a:ln w="25400">
            <a:solidFill>
              <a:srgbClr val="6E757C"/>
            </a:solidFill>
            <a:prstDash val="dash"/>
          </a:ln>
        </p:spPr>
      </p:sp>
      <p:sp>
        <p:nvSpPr>
          <p:cNvPr id="6" name="Shape 4"/>
          <p:cNvSpPr/>
          <p:nvPr/>
        </p:nvSpPr>
        <p:spPr>
          <a:xfrm flipV="1">
            <a:off x="1484693" y="1770507"/>
            <a:ext cx="1404080" cy="1904238"/>
          </a:xfrm>
          <a:prstGeom prst="line">
            <a:avLst/>
          </a:prstGeom>
          <a:noFill/>
          <a:ln w="25400">
            <a:solidFill>
              <a:srgbClr val="6E757C"/>
            </a:solidFill>
            <a:prstDash val="dash"/>
          </a:ln>
        </p:spPr>
      </p:sp>
      <p:sp>
        <p:nvSpPr>
          <p:cNvPr id="7" name="Shape 5"/>
          <p:cNvSpPr/>
          <p:nvPr/>
        </p:nvSpPr>
        <p:spPr>
          <a:xfrm>
            <a:off x="3335551" y="2888361"/>
            <a:ext cx="164592" cy="164592"/>
          </a:xfrm>
          <a:prstGeom prst="ellipse">
            <a:avLst/>
          </a:prstGeom>
          <a:solidFill>
            <a:srgbClr val="B5651D"/>
          </a:solidFill>
          <a:ln w="12700">
            <a:solidFill>
              <a:srgbClr val="FFFFFF"/>
            </a:solidFill>
            <a:prstDash val="solid"/>
          </a:ln>
        </p:spPr>
      </p:sp>
      <p:sp>
        <p:nvSpPr>
          <p:cNvPr id="8" name="Shape 6"/>
          <p:cNvSpPr/>
          <p:nvPr/>
        </p:nvSpPr>
        <p:spPr>
          <a:xfrm>
            <a:off x="1384109" y="3574161"/>
            <a:ext cx="201168" cy="201168"/>
          </a:xfrm>
          <a:prstGeom prst="ellipse">
            <a:avLst/>
          </a:prstGeom>
          <a:solidFill>
            <a:srgbClr val="2C7A9B"/>
          </a:solidFill>
          <a:ln w="12700">
            <a:solidFill>
              <a:srgbClr val="FFFFFF"/>
            </a:solidFill>
            <a:prstDash val="solid"/>
          </a:ln>
        </p:spPr>
      </p:sp>
      <p:sp>
        <p:nvSpPr>
          <p:cNvPr id="9" name="Shape 7"/>
          <p:cNvSpPr/>
          <p:nvPr/>
        </p:nvSpPr>
        <p:spPr>
          <a:xfrm>
            <a:off x="2806478" y="1688211"/>
            <a:ext cx="164592" cy="164592"/>
          </a:xfrm>
          <a:prstGeom prst="ellipse">
            <a:avLst/>
          </a:prstGeom>
          <a:solidFill>
            <a:srgbClr val="2F5D46"/>
          </a:solidFill>
          <a:ln w="12700">
            <a:solidFill>
              <a:srgbClr val="FFFFFF"/>
            </a:solidFill>
            <a:prstDash val="solid"/>
          </a:ln>
        </p:spPr>
      </p:sp>
      <p:sp>
        <p:nvSpPr>
          <p:cNvPr id="10" name="Text 8"/>
          <p:cNvSpPr txBox="1"/>
          <p:nvPr/>
        </p:nvSpPr>
        <p:spPr>
          <a:xfrm>
            <a:off x="3527575" y="2842641"/>
            <a:ext cx="1463040" cy="256032"/>
          </a:xfrm>
          <a:prstGeom prst="rect">
            <a:avLst/>
          </a:prstGeom>
          <a:noFill/>
          <a:ln/>
        </p:spPr>
        <p:txBody>
          <a:bodyPr wrap="square" lIns="0" tIns="0" rIns="0" bIns="0" rtlCol="0" anchor="ctr"/>
          <a:lstStyle/>
          <a:p>
            <a:pPr indent="0" marL="0">
              <a:buNone/>
            </a:pPr>
            <a:r>
              <a:rPr lang="en-US" sz="1100" b="1" dirty="0">
                <a:solidFill>
                  <a:srgbClr val="1E2421"/>
                </a:solidFill>
                <a:latin typeface="Calibri" pitchFamily="34" charset="0"/>
                <a:ea typeface="Calibri" pitchFamily="34" charset="-122"/>
                <a:cs typeface="Calibri" pitchFamily="34" charset="-120"/>
              </a:rPr>
              <a:t>Colorado Springs</a:t>
            </a:r>
            <a:endParaRPr lang="en-US" sz="1100" dirty="0"/>
          </a:p>
        </p:txBody>
      </p:sp>
      <p:sp>
        <p:nvSpPr>
          <p:cNvPr id="11" name="Text 9"/>
          <p:cNvSpPr txBox="1"/>
          <p:nvPr/>
        </p:nvSpPr>
        <p:spPr>
          <a:xfrm>
            <a:off x="1301813" y="3766185"/>
            <a:ext cx="2103120" cy="256032"/>
          </a:xfrm>
          <a:prstGeom prst="rect">
            <a:avLst/>
          </a:prstGeom>
          <a:noFill/>
          <a:ln/>
        </p:spPr>
        <p:txBody>
          <a:bodyPr wrap="square" lIns="0" tIns="0" rIns="0" bIns="0" rtlCol="0" anchor="ctr"/>
          <a:lstStyle/>
          <a:p>
            <a:pPr indent="0" marL="0">
              <a:buNone/>
            </a:pPr>
            <a:r>
              <a:rPr lang="en-US" sz="1100" b="1" dirty="0">
                <a:solidFill>
                  <a:srgbClr val="1E2421"/>
                </a:solidFill>
                <a:latin typeface="Calibri" pitchFamily="34" charset="0"/>
                <a:ea typeface="Calibri" pitchFamily="34" charset="-122"/>
                <a:cs typeface="Calibri" pitchFamily="34" charset="-120"/>
              </a:rPr>
              <a:t>Ouray · Silverton · Telluride</a:t>
            </a:r>
            <a:endParaRPr lang="en-US" sz="1100" dirty="0"/>
          </a:p>
        </p:txBody>
      </p:sp>
      <p:sp>
        <p:nvSpPr>
          <p:cNvPr id="12" name="Text 10"/>
          <p:cNvSpPr txBox="1"/>
          <p:nvPr/>
        </p:nvSpPr>
        <p:spPr>
          <a:xfrm>
            <a:off x="1471454" y="1642491"/>
            <a:ext cx="1280160" cy="256032"/>
          </a:xfrm>
          <a:prstGeom prst="rect">
            <a:avLst/>
          </a:prstGeom>
          <a:noFill/>
          <a:ln/>
        </p:spPr>
        <p:txBody>
          <a:bodyPr wrap="square" lIns="0" tIns="0" rIns="0" bIns="0" rtlCol="0" anchor="ctr"/>
          <a:lstStyle/>
          <a:p>
            <a:pPr algn="r" indent="0" marL="0">
              <a:buNone/>
            </a:pPr>
            <a:r>
              <a:rPr lang="en-US" sz="1100" b="1" dirty="0">
                <a:solidFill>
                  <a:srgbClr val="1E2421"/>
                </a:solidFill>
                <a:latin typeface="Calibri" pitchFamily="34" charset="0"/>
                <a:ea typeface="Calibri" pitchFamily="34" charset="-122"/>
                <a:cs typeface="Calibri" pitchFamily="34" charset="-120"/>
              </a:rPr>
              <a:t>Rocky Mountain NP</a:t>
            </a:r>
            <a:endParaRPr lang="en-US" sz="1100" dirty="0"/>
          </a:p>
        </p:txBody>
      </p:sp>
      <p:sp>
        <p:nvSpPr>
          <p:cNvPr id="13" name="Shape 11"/>
          <p:cNvSpPr/>
          <p:nvPr/>
        </p:nvSpPr>
        <p:spPr>
          <a:xfrm>
            <a:off x="3527575" y="2586609"/>
            <a:ext cx="274320" cy="274320"/>
          </a:xfrm>
          <a:prstGeom prst="ellipse">
            <a:avLst/>
          </a:prstGeom>
          <a:solidFill>
            <a:srgbClr val="1B2E26"/>
          </a:solidFill>
          <a:ln w="12700">
            <a:solidFill>
              <a:srgbClr val="FFFFFF"/>
            </a:solidFill>
            <a:prstDash val="solid"/>
          </a:ln>
        </p:spPr>
      </p:sp>
      <p:sp>
        <p:nvSpPr>
          <p:cNvPr id="14" name="Text 12"/>
          <p:cNvSpPr txBox="1"/>
          <p:nvPr/>
        </p:nvSpPr>
        <p:spPr>
          <a:xfrm>
            <a:off x="3527575" y="258660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5" name="Shape 13"/>
          <p:cNvSpPr/>
          <p:nvPr/>
        </p:nvSpPr>
        <p:spPr>
          <a:xfrm>
            <a:off x="1594421" y="3290697"/>
            <a:ext cx="274320" cy="274320"/>
          </a:xfrm>
          <a:prstGeom prst="ellipse">
            <a:avLst/>
          </a:prstGeom>
          <a:solidFill>
            <a:srgbClr val="1B2E26"/>
          </a:solidFill>
          <a:ln w="12700">
            <a:solidFill>
              <a:srgbClr val="FFFFFF"/>
            </a:solidFill>
            <a:prstDash val="solid"/>
          </a:ln>
        </p:spPr>
      </p:sp>
      <p:sp>
        <p:nvSpPr>
          <p:cNvPr id="16" name="Text 14"/>
          <p:cNvSpPr txBox="1"/>
          <p:nvPr/>
        </p:nvSpPr>
        <p:spPr>
          <a:xfrm>
            <a:off x="1594421" y="329069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7" name="Shape 15"/>
          <p:cNvSpPr/>
          <p:nvPr/>
        </p:nvSpPr>
        <p:spPr>
          <a:xfrm>
            <a:off x="2998502" y="1386459"/>
            <a:ext cx="274320" cy="274320"/>
          </a:xfrm>
          <a:prstGeom prst="ellipse">
            <a:avLst/>
          </a:prstGeom>
          <a:solidFill>
            <a:srgbClr val="1B2E26"/>
          </a:solidFill>
          <a:ln w="12700">
            <a:solidFill>
              <a:srgbClr val="FFFFFF"/>
            </a:solidFill>
            <a:prstDash val="solid"/>
          </a:ln>
        </p:spPr>
      </p:sp>
      <p:sp>
        <p:nvSpPr>
          <p:cNvPr id="18" name="Text 16"/>
          <p:cNvSpPr txBox="1"/>
          <p:nvPr/>
        </p:nvSpPr>
        <p:spPr>
          <a:xfrm>
            <a:off x="2998502" y="138645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txBox="1"/>
          <p:nvPr/>
        </p:nvSpPr>
        <p:spPr>
          <a:xfrm>
            <a:off x="5989320" y="1371600"/>
            <a:ext cx="2743200" cy="2926080"/>
          </a:xfrm>
          <a:prstGeom prst="rect">
            <a:avLst/>
          </a:prstGeom>
          <a:noFill/>
          <a:ln/>
        </p:spPr>
        <p:txBody>
          <a:bodyPr wrap="square" lIns="0" tIns="0" rIns="0" bIns="0" rtlCol="0" anchor="t"/>
          <a:lstStyle/>
          <a:p>
            <a:pPr algn="r" indent="0" marL="0">
              <a:spcAft>
                <a:spcPts val="1000"/>
              </a:spcAft>
              <a:buNone/>
            </a:pPr>
            <a:r>
              <a:rPr lang="en-US" sz="1400" dirty="0">
                <a:solidFill>
                  <a:srgbClr val="1E2421"/>
                </a:solidFill>
                <a:latin typeface="Calibri" pitchFamily="34" charset="0"/>
                <a:ea typeface="Calibri" pitchFamily="34" charset="-122"/>
                <a:cs typeface="Calibri" pitchFamily="34" charset="-120"/>
              </a:rPr>
              <a:t>1. Colorado Springs (4 ימים)</a:t>
            </a:r>
            <a:endParaRPr lang="en-US" sz="1400" dirty="0"/>
          </a:p>
          <a:p>
            <a:pPr algn="r" indent="0" marL="0">
              <a:spcAft>
                <a:spcPts val="1000"/>
              </a:spcAft>
              <a:buNone/>
            </a:pPr>
            <a:r>
              <a:rPr lang="en-US" sz="1400" dirty="0">
                <a:solidFill>
                  <a:srgbClr val="1E2421"/>
                </a:solidFill>
                <a:latin typeface="Calibri" pitchFamily="34" charset="0"/>
                <a:ea typeface="Calibri" pitchFamily="34" charset="-122"/>
                <a:cs typeface="Calibri" pitchFamily="34" charset="-120"/>
              </a:rPr>
              <a:t>2. San Juan Mountains (5 ימים)</a:t>
            </a:r>
            <a:endParaRPr lang="en-US" sz="1400" dirty="0"/>
          </a:p>
          <a:p>
            <a:pPr algn="r" indent="0" marL="0">
              <a:spcAft>
                <a:spcPts val="1000"/>
              </a:spcAft>
              <a:buNone/>
            </a:pPr>
            <a:r>
              <a:rPr lang="en-US" sz="1400" dirty="0">
                <a:solidFill>
                  <a:srgbClr val="1E2421"/>
                </a:solidFill>
                <a:latin typeface="Calibri" pitchFamily="34" charset="0"/>
                <a:ea typeface="Calibri" pitchFamily="34" charset="-122"/>
                <a:cs typeface="Calibri" pitchFamily="34" charset="-120"/>
              </a:rPr>
              <a:t>3. Rocky Mountain NP (5–6 ימים)</a:t>
            </a:r>
            <a:endParaRPr lang="en-US" sz="1400" dirty="0"/>
          </a:p>
          <a:p>
            <a:pPr algn="r" indent="0" marL="0">
              <a:spcAft>
                <a:spcPts val="1000"/>
              </a:spcAft>
              <a:buNone/>
            </a:pPr>
            <a:r>
              <a:rPr lang="en-US" sz="1200" i="1" dirty="0">
                <a:solidFill>
                  <a:srgbClr val="5A625E"/>
                </a:solidFill>
                <a:latin typeface="Calibri" pitchFamily="34" charset="0"/>
                <a:ea typeface="Calibri" pitchFamily="34" charset="-122"/>
                <a:cs typeface="Calibri" pitchFamily="34" charset="-120"/>
              </a:rPr>
              <a:t>הסדר מוצע: מדרום לדרום-מערב ואז לצפון, כדי לחסוך נסיעה חוזרת. מומלץ לאמת זמני נסיעה ב-Google Maps לפני הזמנת לינה.</a:t>
            </a:r>
            <a:endParaRPr lang="en-US" sz="1400" dirty="0"/>
          </a:p>
        </p:txBody>
      </p:sp>
      <p:sp>
        <p:nvSpPr>
          <p:cNvPr id="20" name="Text 18"/>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מפה סכמטית. זמני הנסיעה בין האזורים לא נאספו במחקר זה [לאימות]. הסדר הוא הצעה ולא החלטה סופית.</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לוח הטיול הכולל: 14–18 ימים</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914400"/>
                <a:gridCol w="914400"/>
                <a:gridCol w="2377440"/>
                <a:gridCol w="4023360"/>
              </a:tblGrid>
              <a:tr h="475488">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שלב</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ימים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אזור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300" b="1" dirty="0">
                          <a:solidFill>
                            <a:srgbClr val="FFFFFF"/>
                          </a:solidFill>
                          <a:latin typeface="Calibri" pitchFamily="34" charset="0"/>
                          <a:ea typeface="Calibri" pitchFamily="34" charset="-122"/>
                          <a:cs typeface="Calibri" pitchFamily="34" charset="-120"/>
                        </a:rPr>
                        <a:t>מוקד הביקור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Colorado Springs</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Garden of the Gods, North Cheyenne Cañon, Pikes Peak</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מעבר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נסיעה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נסיעה דרום-מערב, כולל מזג אוויר ותחנות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San Juan Mountains</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Million Dollar Highway, Ice Lake, Blue Lakes, Ouray</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מעבר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נסיעה</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בדיקת מזג אוויר והתארגנות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Rocky Mountain NP</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Bear Lake, Trail Ridge Road, אגמים ומפלים, חיות בר</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חיץ</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מילואים</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300" dirty="0">
                          <a:solidFill>
                            <a:srgbClr val="1E2421"/>
                          </a:solidFill>
                          <a:latin typeface="Calibri" pitchFamily="34" charset="0"/>
                          <a:ea typeface="Calibri" pitchFamily="34" charset="-122"/>
                          <a:cs typeface="Calibri" pitchFamily="34" charset="-120"/>
                        </a:rPr>
                        <a:t>לשינויי מזג אוויר, סגירה או עייפות</a:t>
                      </a:r>
                      <a:endParaRPr lang="en-US" sz="13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סה"כ: 4 + 5 + 5–6 + מעברים וחיץ = 14–18 ימים, בהתאם למשך ההתחלתי של כל אזור. מעברים כלולים בטווח כפי שנדרש.</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מזג אוויר טיפוסי באוגוסט</a:t>
            </a:r>
            <a:endParaRPr lang="en-US" sz="3200" dirty="0"/>
          </a:p>
        </p:txBody>
      </p:sp>
      <p:sp>
        <p:nvSpPr>
          <p:cNvPr id="3" name="Shape 1"/>
          <p:cNvSpPr/>
          <p:nvPr/>
        </p:nvSpPr>
        <p:spPr>
          <a:xfrm>
            <a:off x="457200" y="1188720"/>
            <a:ext cx="1920240" cy="1371600"/>
          </a:xfrm>
          <a:prstGeom prst="roundRect">
            <a:avLst>
              <a:gd name="adj" fmla="val 5333"/>
            </a:avLst>
          </a:prstGeom>
          <a:solidFill>
            <a:srgbClr val="EEF2EE"/>
          </a:solidFill>
          <a:ln w="6350">
            <a:solidFill>
              <a:srgbClr val="EEF2EE"/>
            </a:solidFill>
            <a:prstDash val="solid"/>
          </a:ln>
        </p:spPr>
      </p:sp>
      <p:sp>
        <p:nvSpPr>
          <p:cNvPr id="4" name="Text 2"/>
          <p:cNvSpPr txBox="1"/>
          <p:nvPr/>
        </p:nvSpPr>
        <p:spPr>
          <a:xfrm>
            <a:off x="594360" y="1371600"/>
            <a:ext cx="1645920" cy="685800"/>
          </a:xfrm>
          <a:prstGeom prst="rect">
            <a:avLst/>
          </a:prstGeom>
          <a:noFill/>
          <a:ln/>
        </p:spPr>
        <p:txBody>
          <a:bodyPr wrap="square" lIns="0" tIns="0" rIns="0" bIns="0" rtlCol="0" anchor="ctr"/>
          <a:lstStyle/>
          <a:p>
            <a:pPr algn="ctr" indent="0" marL="0">
              <a:buNone/>
            </a:pPr>
            <a:r>
              <a:rPr lang="en-US" sz="3400" b="1" dirty="0">
                <a:solidFill>
                  <a:srgbClr val="B5651D"/>
                </a:solidFill>
                <a:latin typeface="Cambria" pitchFamily="34" charset="0"/>
                <a:ea typeface="Cambria" pitchFamily="34" charset="-122"/>
                <a:cs typeface="Cambria" pitchFamily="34" charset="-120"/>
              </a:rPr>
              <a:t>צהריים</a:t>
            </a:r>
            <a:endParaRPr lang="en-US" sz="3400" dirty="0"/>
          </a:p>
        </p:txBody>
      </p:sp>
      <p:sp>
        <p:nvSpPr>
          <p:cNvPr id="5" name="Text 3"/>
          <p:cNvSpPr txBox="1"/>
          <p:nvPr/>
        </p:nvSpPr>
        <p:spPr>
          <a:xfrm>
            <a:off x="5943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סופות רעמים: שיא סיכון [כללי]</a:t>
            </a:r>
            <a:endParaRPr lang="en-US" sz="1200" dirty="0"/>
          </a:p>
        </p:txBody>
      </p:sp>
      <p:sp>
        <p:nvSpPr>
          <p:cNvPr id="6" name="Shape 4"/>
          <p:cNvSpPr/>
          <p:nvPr/>
        </p:nvSpPr>
        <p:spPr>
          <a:xfrm>
            <a:off x="2514600" y="1188720"/>
            <a:ext cx="1920240" cy="1371600"/>
          </a:xfrm>
          <a:prstGeom prst="roundRect">
            <a:avLst>
              <a:gd name="adj" fmla="val 5333"/>
            </a:avLst>
          </a:prstGeom>
          <a:solidFill>
            <a:srgbClr val="EEF2EE"/>
          </a:solidFill>
          <a:ln w="6350">
            <a:solidFill>
              <a:srgbClr val="EEF2EE"/>
            </a:solidFill>
            <a:prstDash val="solid"/>
          </a:ln>
        </p:spPr>
      </p:sp>
      <p:sp>
        <p:nvSpPr>
          <p:cNvPr id="7" name="Text 5"/>
          <p:cNvSpPr txBox="1"/>
          <p:nvPr/>
        </p:nvSpPr>
        <p:spPr>
          <a:xfrm>
            <a:off x="2651760" y="1371600"/>
            <a:ext cx="1645920" cy="685800"/>
          </a:xfrm>
          <a:prstGeom prst="rect">
            <a:avLst/>
          </a:prstGeom>
          <a:noFill/>
          <a:ln/>
        </p:spPr>
        <p:txBody>
          <a:bodyPr wrap="square" lIns="0" tIns="0" rIns="0" bIns="0" rtlCol="0" anchor="ctr"/>
          <a:lstStyle/>
          <a:p>
            <a:pPr algn="ctr" indent="0" marL="0">
              <a:buNone/>
            </a:pPr>
            <a:r>
              <a:rPr lang="en-US" sz="3400" b="1" dirty="0">
                <a:solidFill>
                  <a:srgbClr val="2F5D46"/>
                </a:solidFill>
                <a:latin typeface="Cambria" pitchFamily="34" charset="0"/>
                <a:ea typeface="Cambria" pitchFamily="34" charset="-122"/>
                <a:cs typeface="Cambria" pitchFamily="34" charset="-120"/>
              </a:rPr>
              <a:t>בוקר</a:t>
            </a:r>
            <a:endParaRPr lang="en-US" sz="3400" dirty="0"/>
          </a:p>
        </p:txBody>
      </p:sp>
      <p:sp>
        <p:nvSpPr>
          <p:cNvPr id="8" name="Text 6"/>
          <p:cNvSpPr txBox="1"/>
          <p:nvPr/>
        </p:nvSpPr>
        <p:spPr>
          <a:xfrm>
            <a:off x="26517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הכי נוח להליכה ולפסגה [כללי]</a:t>
            </a:r>
            <a:endParaRPr lang="en-US" sz="1200" dirty="0"/>
          </a:p>
        </p:txBody>
      </p:sp>
      <p:sp>
        <p:nvSpPr>
          <p:cNvPr id="9" name="Shape 7"/>
          <p:cNvSpPr/>
          <p:nvPr/>
        </p:nvSpPr>
        <p:spPr>
          <a:xfrm>
            <a:off x="4572000" y="1188720"/>
            <a:ext cx="1920240" cy="1371600"/>
          </a:xfrm>
          <a:prstGeom prst="roundRect">
            <a:avLst>
              <a:gd name="adj" fmla="val 5333"/>
            </a:avLst>
          </a:prstGeom>
          <a:solidFill>
            <a:srgbClr val="EEF2EE"/>
          </a:solidFill>
          <a:ln w="6350">
            <a:solidFill>
              <a:srgbClr val="EEF2EE"/>
            </a:solidFill>
            <a:prstDash val="solid"/>
          </a:ln>
        </p:spPr>
      </p:sp>
      <p:sp>
        <p:nvSpPr>
          <p:cNvPr id="10" name="Text 8"/>
          <p:cNvSpPr txBox="1"/>
          <p:nvPr/>
        </p:nvSpPr>
        <p:spPr>
          <a:xfrm>
            <a:off x="4709160" y="1371600"/>
            <a:ext cx="1645920" cy="685800"/>
          </a:xfrm>
          <a:prstGeom prst="rect">
            <a:avLst/>
          </a:prstGeom>
          <a:noFill/>
          <a:ln/>
        </p:spPr>
        <p:txBody>
          <a:bodyPr wrap="square" lIns="0" tIns="0" rIns="0" bIns="0" rtlCol="0" anchor="ctr"/>
          <a:lstStyle/>
          <a:p>
            <a:pPr algn="ctr" indent="0" marL="0">
              <a:buNone/>
            </a:pPr>
            <a:r>
              <a:rPr lang="en-US" sz="3400" b="1" dirty="0">
                <a:solidFill>
                  <a:srgbClr val="2C7A9B"/>
                </a:solidFill>
                <a:latin typeface="Cambria" pitchFamily="34" charset="0"/>
                <a:ea typeface="Cambria" pitchFamily="34" charset="-122"/>
                <a:cs typeface="Cambria" pitchFamily="34" charset="-120"/>
              </a:rPr>
              <a:t>בגבהים</a:t>
            </a:r>
            <a:endParaRPr lang="en-US" sz="3400" dirty="0"/>
          </a:p>
        </p:txBody>
      </p:sp>
      <p:sp>
        <p:nvSpPr>
          <p:cNvPr id="11" name="Text 9"/>
          <p:cNvSpPr txBox="1"/>
          <p:nvPr/>
        </p:nvSpPr>
        <p:spPr>
          <a:xfrm>
            <a:off x="4709160" y="2039112"/>
            <a:ext cx="164592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טמפרטורה קרה גם באוגוסט [כללי]</a:t>
            </a:r>
            <a:endParaRPr lang="en-US" sz="1200" dirty="0"/>
          </a:p>
        </p:txBody>
      </p:sp>
      <p:sp>
        <p:nvSpPr>
          <p:cNvPr id="12" name="Shape 10"/>
          <p:cNvSpPr/>
          <p:nvPr/>
        </p:nvSpPr>
        <p:spPr>
          <a:xfrm>
            <a:off x="6629400" y="1188720"/>
            <a:ext cx="2057400" cy="1371600"/>
          </a:xfrm>
          <a:prstGeom prst="roundRect">
            <a:avLst>
              <a:gd name="adj" fmla="val 5333"/>
            </a:avLst>
          </a:prstGeom>
          <a:solidFill>
            <a:srgbClr val="EEF2EE"/>
          </a:solidFill>
          <a:ln w="6350">
            <a:solidFill>
              <a:srgbClr val="EEF2EE"/>
            </a:solidFill>
            <a:prstDash val="solid"/>
          </a:ln>
        </p:spPr>
      </p:sp>
      <p:sp>
        <p:nvSpPr>
          <p:cNvPr id="13" name="Text 11"/>
          <p:cNvSpPr txBox="1"/>
          <p:nvPr/>
        </p:nvSpPr>
        <p:spPr>
          <a:xfrm>
            <a:off x="6766560" y="1371600"/>
            <a:ext cx="1783080" cy="685800"/>
          </a:xfrm>
          <a:prstGeom prst="rect">
            <a:avLst/>
          </a:prstGeom>
          <a:noFill/>
          <a:ln/>
        </p:spPr>
        <p:txBody>
          <a:bodyPr wrap="square" lIns="0" tIns="0" rIns="0" bIns="0" rtlCol="0" anchor="ctr"/>
          <a:lstStyle/>
          <a:p>
            <a:pPr algn="ctr" indent="0" marL="0">
              <a:buNone/>
            </a:pPr>
            <a:r>
              <a:rPr lang="en-US" sz="3400" b="1" dirty="0">
                <a:solidFill>
                  <a:srgbClr val="6E757C"/>
                </a:solidFill>
                <a:latin typeface="Cambria" pitchFamily="34" charset="0"/>
                <a:ea typeface="Cambria" pitchFamily="34" charset="-122"/>
                <a:cs typeface="Cambria" pitchFamily="34" charset="-120"/>
              </a:rPr>
              <a:t>שלג</a:t>
            </a:r>
            <a:endParaRPr lang="en-US" sz="3400" dirty="0"/>
          </a:p>
        </p:txBody>
      </p:sp>
      <p:sp>
        <p:nvSpPr>
          <p:cNvPr id="14" name="Text 12"/>
          <p:cNvSpPr txBox="1"/>
          <p:nvPr/>
        </p:nvSpPr>
        <p:spPr>
          <a:xfrm>
            <a:off x="6766560" y="2039112"/>
            <a:ext cx="1783080" cy="438912"/>
          </a:xfrm>
          <a:prstGeom prst="rect">
            <a:avLst/>
          </a:prstGeom>
          <a:noFill/>
          <a:ln/>
        </p:spPr>
        <p:txBody>
          <a:bodyPr wrap="square" lIns="0" tIns="0" rIns="0" bIns="0" rtlCol="0" anchor="t"/>
          <a:lstStyle/>
          <a:p>
            <a:pPr rtl="1" algn="ctr" indent="0" marL="0">
              <a:buNone/>
            </a:pPr>
            <a:r>
              <a:rPr lang="en-US" sz="1200" dirty="0">
                <a:solidFill>
                  <a:srgbClr val="5A625E"/>
                </a:solidFill>
                <a:latin typeface="Calibri" pitchFamily="34" charset="0"/>
                <a:ea typeface="Calibri" pitchFamily="34" charset="-122"/>
                <a:cs typeface="Calibri" pitchFamily="34" charset="-120"/>
              </a:rPr>
              <a:t>אפשרי בגבהים, לא מובטח [כללי]</a:t>
            </a:r>
            <a:endParaRPr lang="en-US" sz="1200" dirty="0"/>
          </a:p>
        </p:txBody>
      </p:sp>
      <p:sp>
        <p:nvSpPr>
          <p:cNvPr id="15" name="Text 13"/>
          <p:cNvSpPr txBox="1"/>
          <p:nvPr/>
        </p:nvSpPr>
        <p:spPr>
          <a:xfrm>
            <a:off x="457200" y="2834640"/>
            <a:ext cx="8229600" cy="1463040"/>
          </a:xfrm>
          <a:prstGeom prst="rect">
            <a:avLst/>
          </a:prstGeom>
          <a:noFill/>
          <a:ln/>
        </p:spPr>
        <p:txBody>
          <a:bodyPr wrap="square" lIns="0" tIns="0" rIns="0" bIns="0" rtlCol="0" anchor="t"/>
          <a:lstStyle/>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כלל אצבע: לצאת לפני 8:00 בבוקר, ולרדת מהרכסים לפני 13:00–14:00 בזמן סופה מאוחרת.</a:t>
            </a:r>
            <a:endParaRPr lang="en-US" sz="1400" dirty="0"/>
          </a:p>
          <a:p>
            <a:pPr algn="r" marL="177800" indent="-177800">
              <a:spcAft>
                <a:spcPts val="600"/>
              </a:spcAft>
              <a:buSzPct val="100000"/>
              <a:buChar char="•"/>
            </a:pPr>
            <a:r>
              <a:rPr lang="en-US" sz="1400" dirty="0">
                <a:solidFill>
                  <a:srgbClr val="1E2421"/>
                </a:solidFill>
                <a:latin typeface="Calibri" pitchFamily="34" charset="0"/>
                <a:ea typeface="Calibri" pitchFamily="34" charset="-122"/>
                <a:cs typeface="Calibri" pitchFamily="34" charset="-120"/>
              </a:rPr>
              <a:t>שכבות בגדים: בגד קל לגשם, מעיל רוח, שכבה מחממת, ותמיד בקבוק מים וכובע.</a:t>
            </a:r>
            <a:endParaRPr lang="en-US" sz="1400" dirty="0"/>
          </a:p>
        </p:txBody>
      </p:sp>
      <p:sp>
        <p:nvSpPr>
          <p:cNvPr id="16" name="Text 14"/>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הערכים הם דפוסים כלליים של מזג האוויר בקולורדו, לא תחזית לתאריך מסוים. לפני היציאה יש לבדוק NWS/NOAA ולעקוב אחרי התחזית לאזור הספציפי.</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סכנות טבעיות ואיך מתמודדים</a:t>
            </a:r>
            <a:endParaRPr lang="en-US" sz="3200" dirty="0"/>
          </a:p>
        </p:txBody>
      </p:sp>
      <p:sp>
        <p:nvSpPr>
          <p:cNvPr id="3" name="Shape 1"/>
          <p:cNvSpPr/>
          <p:nvPr/>
        </p:nvSpPr>
        <p:spPr>
          <a:xfrm>
            <a:off x="457200" y="1188720"/>
            <a:ext cx="2606040" cy="1600200"/>
          </a:xfrm>
          <a:prstGeom prst="roundRect">
            <a:avLst>
              <a:gd name="adj" fmla="val 4571"/>
            </a:avLst>
          </a:prstGeom>
          <a:solidFill>
            <a:srgbClr val="EEF2EE"/>
          </a:solidFill>
          <a:ln w="6350">
            <a:solidFill>
              <a:srgbClr val="EEF2EE"/>
            </a:solidFill>
            <a:prstDash val="solid"/>
          </a:ln>
        </p:spPr>
      </p:sp>
      <p:sp>
        <p:nvSpPr>
          <p:cNvPr id="4" name="Text 2"/>
          <p:cNvSpPr txBox="1"/>
          <p:nvPr/>
        </p:nvSpPr>
        <p:spPr>
          <a:xfrm>
            <a:off x="621792" y="131673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סופות רעמים וברקים</a:t>
            </a:r>
            <a:endParaRPr lang="en-US" sz="1350" dirty="0"/>
          </a:p>
        </p:txBody>
      </p:sp>
      <p:sp>
        <p:nvSpPr>
          <p:cNvPr id="5" name="Text 3"/>
          <p:cNvSpPr txBox="1"/>
          <p:nvPr/>
        </p:nvSpPr>
        <p:spPr>
          <a:xfrm>
            <a:off x="621792" y="173736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הסכנה הגדולה ביותר אחר הצהריים. ברק יכול להכות על רכס פתוח. יורדים מהגובה ומחפשים מחסה במקום נמוך ויערני.</a:t>
            </a:r>
            <a:endParaRPr lang="en-US" sz="1100" dirty="0"/>
          </a:p>
        </p:txBody>
      </p:sp>
      <p:sp>
        <p:nvSpPr>
          <p:cNvPr id="6" name="Shape 4"/>
          <p:cNvSpPr/>
          <p:nvPr/>
        </p:nvSpPr>
        <p:spPr>
          <a:xfrm>
            <a:off x="3268980" y="1188720"/>
            <a:ext cx="2606040" cy="1600200"/>
          </a:xfrm>
          <a:prstGeom prst="roundRect">
            <a:avLst>
              <a:gd name="adj" fmla="val 4571"/>
            </a:avLst>
          </a:prstGeom>
          <a:solidFill>
            <a:srgbClr val="EEF2EE"/>
          </a:solidFill>
          <a:ln w="6350">
            <a:solidFill>
              <a:srgbClr val="EEF2EE"/>
            </a:solidFill>
            <a:prstDash val="solid"/>
          </a:ln>
        </p:spPr>
      </p:sp>
      <p:sp>
        <p:nvSpPr>
          <p:cNvPr id="7" name="Text 5"/>
          <p:cNvSpPr txBox="1"/>
          <p:nvPr/>
        </p:nvSpPr>
        <p:spPr>
          <a:xfrm>
            <a:off x="3433572" y="131673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מחלת גבהים</a:t>
            </a:r>
            <a:endParaRPr lang="en-US" sz="1350" dirty="0"/>
          </a:p>
        </p:txBody>
      </p:sp>
      <p:sp>
        <p:nvSpPr>
          <p:cNvPr id="8" name="Text 6"/>
          <p:cNvSpPr txBox="1"/>
          <p:nvPr/>
        </p:nvSpPr>
        <p:spPr>
          <a:xfrm>
            <a:off x="3433572" y="173736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כאב ראש, בחילה, עייפות וקוצר נשימה. הפתרון: ירידה מיידית, ולא טיפוס נוסף.</a:t>
            </a:r>
            <a:endParaRPr lang="en-US" sz="1100" dirty="0"/>
          </a:p>
        </p:txBody>
      </p:sp>
      <p:sp>
        <p:nvSpPr>
          <p:cNvPr id="9" name="Shape 7"/>
          <p:cNvSpPr/>
          <p:nvPr/>
        </p:nvSpPr>
        <p:spPr>
          <a:xfrm>
            <a:off x="6080760" y="1188720"/>
            <a:ext cx="2606040" cy="1600200"/>
          </a:xfrm>
          <a:prstGeom prst="roundRect">
            <a:avLst>
              <a:gd name="adj" fmla="val 4571"/>
            </a:avLst>
          </a:prstGeom>
          <a:solidFill>
            <a:srgbClr val="EEF2EE"/>
          </a:solidFill>
          <a:ln w="6350">
            <a:solidFill>
              <a:srgbClr val="EEF2EE"/>
            </a:solidFill>
            <a:prstDash val="solid"/>
          </a:ln>
        </p:spPr>
      </p:sp>
      <p:sp>
        <p:nvSpPr>
          <p:cNvPr id="10" name="Text 8"/>
          <p:cNvSpPr txBox="1"/>
          <p:nvPr/>
        </p:nvSpPr>
        <p:spPr>
          <a:xfrm>
            <a:off x="6245352" y="131673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היפותרמיה</a:t>
            </a:r>
            <a:endParaRPr lang="en-US" sz="1350" dirty="0"/>
          </a:p>
        </p:txBody>
      </p:sp>
      <p:sp>
        <p:nvSpPr>
          <p:cNvPr id="11" name="Text 9"/>
          <p:cNvSpPr txBox="1"/>
          <p:nvPr/>
        </p:nvSpPr>
        <p:spPr>
          <a:xfrm>
            <a:off x="6245352" y="173736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קור ורטיבות יחד, במיוחד אחרי גשם או סופה. בגדי שכבות וכיסוי רוח הם הגנה בסיסית.</a:t>
            </a:r>
            <a:endParaRPr lang="en-US" sz="1100" dirty="0"/>
          </a:p>
        </p:txBody>
      </p:sp>
      <p:sp>
        <p:nvSpPr>
          <p:cNvPr id="12" name="Shape 10"/>
          <p:cNvSpPr/>
          <p:nvPr/>
        </p:nvSpPr>
        <p:spPr>
          <a:xfrm>
            <a:off x="457200" y="2926080"/>
            <a:ext cx="2606040" cy="1600200"/>
          </a:xfrm>
          <a:prstGeom prst="roundRect">
            <a:avLst>
              <a:gd name="adj" fmla="val 4571"/>
            </a:avLst>
          </a:prstGeom>
          <a:solidFill>
            <a:srgbClr val="EEF2EE"/>
          </a:solidFill>
          <a:ln w="6350">
            <a:solidFill>
              <a:srgbClr val="EEF2EE"/>
            </a:solidFill>
            <a:prstDash val="solid"/>
          </a:ln>
        </p:spPr>
      </p:sp>
      <p:sp>
        <p:nvSpPr>
          <p:cNvPr id="13" name="Text 11"/>
          <p:cNvSpPr txBox="1"/>
          <p:nvPr/>
        </p:nvSpPr>
        <p:spPr>
          <a:xfrm>
            <a:off x="621792" y="305409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חיות בר</a:t>
            </a:r>
            <a:endParaRPr lang="en-US" sz="1350" dirty="0"/>
          </a:p>
        </p:txBody>
      </p:sp>
      <p:sp>
        <p:nvSpPr>
          <p:cNvPr id="14" name="Text 12"/>
          <p:cNvSpPr txBox="1"/>
          <p:nvPr/>
        </p:nvSpPr>
        <p:spPr>
          <a:xfrm>
            <a:off x="621792" y="347472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אייל, איילה ודובים שחורים. שומרים מרחק, לא מאכילים ולא מתקרבים לגורים.</a:t>
            </a:r>
            <a:endParaRPr lang="en-US" sz="1100" dirty="0"/>
          </a:p>
        </p:txBody>
      </p:sp>
      <p:sp>
        <p:nvSpPr>
          <p:cNvPr id="15" name="Shape 13"/>
          <p:cNvSpPr/>
          <p:nvPr/>
        </p:nvSpPr>
        <p:spPr>
          <a:xfrm>
            <a:off x="3268980" y="2926080"/>
            <a:ext cx="2606040" cy="1600200"/>
          </a:xfrm>
          <a:prstGeom prst="roundRect">
            <a:avLst>
              <a:gd name="adj" fmla="val 4571"/>
            </a:avLst>
          </a:prstGeom>
          <a:solidFill>
            <a:srgbClr val="EEF2EE"/>
          </a:solidFill>
          <a:ln w="6350">
            <a:solidFill>
              <a:srgbClr val="EEF2EE"/>
            </a:solidFill>
            <a:prstDash val="solid"/>
          </a:ln>
        </p:spPr>
      </p:sp>
      <p:sp>
        <p:nvSpPr>
          <p:cNvPr id="16" name="Text 14"/>
          <p:cNvSpPr txBox="1"/>
          <p:nvPr/>
        </p:nvSpPr>
        <p:spPr>
          <a:xfrm>
            <a:off x="3433572" y="305409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שינויי מזג אוויר</a:t>
            </a:r>
            <a:endParaRPr lang="en-US" sz="1350" dirty="0"/>
          </a:p>
        </p:txBody>
      </p:sp>
      <p:sp>
        <p:nvSpPr>
          <p:cNvPr id="17" name="Text 15"/>
          <p:cNvSpPr txBox="1"/>
          <p:nvPr/>
        </p:nvSpPr>
        <p:spPr>
          <a:xfrm>
            <a:off x="3433572" y="347472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מזג אוויר בהרים משתנה מהר. תחזית טובה בבוקר לא מבטיחה אחר הצהריים.</a:t>
            </a:r>
            <a:endParaRPr lang="en-US" sz="1100" dirty="0"/>
          </a:p>
        </p:txBody>
      </p:sp>
      <p:sp>
        <p:nvSpPr>
          <p:cNvPr id="18" name="Shape 16"/>
          <p:cNvSpPr/>
          <p:nvPr/>
        </p:nvSpPr>
        <p:spPr>
          <a:xfrm>
            <a:off x="6080760" y="2926080"/>
            <a:ext cx="2606040" cy="1600200"/>
          </a:xfrm>
          <a:prstGeom prst="roundRect">
            <a:avLst>
              <a:gd name="adj" fmla="val 4571"/>
            </a:avLst>
          </a:prstGeom>
          <a:solidFill>
            <a:srgbClr val="EEF2EE"/>
          </a:solidFill>
          <a:ln w="6350">
            <a:solidFill>
              <a:srgbClr val="EEF2EE"/>
            </a:solidFill>
            <a:prstDash val="solid"/>
          </a:ln>
        </p:spPr>
      </p:sp>
      <p:sp>
        <p:nvSpPr>
          <p:cNvPr id="19" name="Text 17"/>
          <p:cNvSpPr txBox="1"/>
          <p:nvPr/>
        </p:nvSpPr>
        <p:spPr>
          <a:xfrm>
            <a:off x="6245352" y="3054096"/>
            <a:ext cx="2276856" cy="384048"/>
          </a:xfrm>
          <a:prstGeom prst="rect">
            <a:avLst/>
          </a:prstGeom>
          <a:noFill/>
          <a:ln/>
        </p:spPr>
        <p:txBody>
          <a:bodyPr wrap="square" lIns="0" tIns="0" rIns="0" bIns="0" rtlCol="0" anchor="ctr"/>
          <a:lstStyle/>
          <a:p>
            <a:pPr rtl="1" algn="r" indent="0" marL="0">
              <a:buNone/>
            </a:pPr>
            <a:r>
              <a:rPr lang="en-US" sz="1350" b="1" dirty="0">
                <a:solidFill>
                  <a:srgbClr val="B5651D"/>
                </a:solidFill>
                <a:latin typeface="Cambria" pitchFamily="34" charset="0"/>
                <a:ea typeface="Cambria" pitchFamily="34" charset="-122"/>
                <a:cs typeface="Cambria" pitchFamily="34" charset="-120"/>
              </a:rPr>
              <a:t>כבישים הרריים</a:t>
            </a:r>
            <a:endParaRPr lang="en-US" sz="1350" dirty="0"/>
          </a:p>
        </p:txBody>
      </p:sp>
      <p:sp>
        <p:nvSpPr>
          <p:cNvPr id="20" name="Text 18"/>
          <p:cNvSpPr txBox="1"/>
          <p:nvPr/>
        </p:nvSpPr>
        <p:spPr>
          <a:xfrm>
            <a:off x="6245352" y="3474720"/>
            <a:ext cx="2276856" cy="941832"/>
          </a:xfrm>
          <a:prstGeom prst="rect">
            <a:avLst/>
          </a:prstGeom>
          <a:noFill/>
          <a:ln/>
        </p:spPr>
        <p:txBody>
          <a:bodyPr wrap="square" lIns="0" tIns="0" rIns="0" bIns="0" rtlCol="0" anchor="t"/>
          <a:lstStyle/>
          <a:p>
            <a:pPr rtl="1" algn="r" indent="0" marL="0">
              <a:buNone/>
            </a:pPr>
            <a:r>
              <a:rPr lang="en-US" sz="1100" dirty="0">
                <a:solidFill>
                  <a:srgbClr val="1E2421"/>
                </a:solidFill>
                <a:latin typeface="Calibri" pitchFamily="34" charset="0"/>
                <a:ea typeface="Calibri" pitchFamily="34" charset="-122"/>
                <a:cs typeface="Calibri" pitchFamily="34" charset="-120"/>
              </a:rPr>
              <a:t>מדרונות תלולים, מעברים גבוהים ומזג אוויר גרוע. נסיעה בזהירות ובשעות אור.</a:t>
            </a:r>
            <a:endParaRPr lang="en-US" sz="1100" dirty="0"/>
          </a:p>
        </p:txBody>
      </p:sp>
      <p:sp>
        <p:nvSpPr>
          <p:cNvPr id="21" name="Text 19"/>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(Safety), Colorado Parks and Wildlife, NOAA. המלצות כלליות; ייעוץ רפואי אישי לפני הטיול מומלץ.</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כללי בטיחות וציוד בסיסי</a:t>
            </a:r>
            <a:endParaRPr lang="en-US" sz="3200" dirty="0"/>
          </a:p>
        </p:txBody>
      </p:sp>
      <p:sp>
        <p:nvSpPr>
          <p:cNvPr id="3" name="Shape 1"/>
          <p:cNvSpPr/>
          <p:nvPr/>
        </p:nvSpPr>
        <p:spPr>
          <a:xfrm>
            <a:off x="457200" y="1188720"/>
            <a:ext cx="3977640" cy="3291840"/>
          </a:xfrm>
          <a:prstGeom prst="roundRect">
            <a:avLst>
              <a:gd name="adj" fmla="val 2222"/>
            </a:avLst>
          </a:prstGeom>
          <a:solidFill>
            <a:srgbClr val="EEF2EE"/>
          </a:solidFill>
          <a:ln w="6350">
            <a:solidFill>
              <a:srgbClr val="EEF2EE"/>
            </a:solidFill>
            <a:prstDash val="solid"/>
          </a:ln>
        </p:spPr>
      </p:sp>
      <p:sp>
        <p:nvSpPr>
          <p:cNvPr id="4" name="Text 2"/>
          <p:cNvSpPr txBox="1"/>
          <p:nvPr/>
        </p:nvSpPr>
        <p:spPr>
          <a:xfrm>
            <a:off x="621792" y="131673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כללי בטיחות</a:t>
            </a:r>
            <a:endParaRPr lang="en-US" sz="1500" dirty="0"/>
          </a:p>
        </p:txBody>
      </p:sp>
      <p:sp>
        <p:nvSpPr>
          <p:cNvPr id="5" name="Text 3"/>
          <p:cNvSpPr txBox="1"/>
          <p:nvPr/>
        </p:nvSpPr>
        <p:spPr>
          <a:xfrm>
            <a:off x="621792" y="1737360"/>
            <a:ext cx="3648456" cy="26334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 להודיע למישהו על תוכנית ההליכה</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לצאת מוקדם, ולהחזיר את הקבוצה לפי זמן</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לשתות הרבה מים ולאכול בקביעות</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לא לטפס לפסגה אחרי 12:00 בימים עם סופה</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לזהות סימני מחלת גבהים בילדים ובמבוגרים</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לא להסתובב מחוץ לשבילים בטונדרה</a:t>
            </a:r>
            <a:endParaRPr lang="en-US" sz="1250" dirty="0"/>
          </a:p>
        </p:txBody>
      </p:sp>
      <p:sp>
        <p:nvSpPr>
          <p:cNvPr id="6" name="Shape 4"/>
          <p:cNvSpPr/>
          <p:nvPr/>
        </p:nvSpPr>
        <p:spPr>
          <a:xfrm>
            <a:off x="4709160" y="1188720"/>
            <a:ext cx="3977640" cy="3291840"/>
          </a:xfrm>
          <a:prstGeom prst="roundRect">
            <a:avLst>
              <a:gd name="adj" fmla="val 2222"/>
            </a:avLst>
          </a:prstGeom>
          <a:solidFill>
            <a:srgbClr val="EEF2EE"/>
          </a:solidFill>
          <a:ln w="6350">
            <a:solidFill>
              <a:srgbClr val="EEF2EE"/>
            </a:solidFill>
            <a:prstDash val="solid"/>
          </a:ln>
        </p:spPr>
      </p:sp>
      <p:sp>
        <p:nvSpPr>
          <p:cNvPr id="7" name="Text 5"/>
          <p:cNvSpPr txBox="1"/>
          <p:nvPr/>
        </p:nvSpPr>
        <p:spPr>
          <a:xfrm>
            <a:off x="4873752" y="1316736"/>
            <a:ext cx="3648456" cy="384048"/>
          </a:xfrm>
          <a:prstGeom prst="rect">
            <a:avLst/>
          </a:prstGeom>
          <a:noFill/>
          <a:ln/>
        </p:spPr>
        <p:txBody>
          <a:bodyPr wrap="square" lIns="0" tIns="0" rIns="0" bIns="0" rtlCol="0" anchor="ctr"/>
          <a:lstStyle/>
          <a:p>
            <a:pPr rtl="1" algn="r" indent="0" marL="0">
              <a:buNone/>
            </a:pPr>
            <a:r>
              <a:rPr lang="en-US" sz="1500" b="1" dirty="0">
                <a:solidFill>
                  <a:srgbClr val="2F5D46"/>
                </a:solidFill>
                <a:latin typeface="Cambria" pitchFamily="34" charset="0"/>
                <a:ea typeface="Cambria" pitchFamily="34" charset="-122"/>
                <a:cs typeface="Cambria" pitchFamily="34" charset="-120"/>
              </a:rPr>
              <a:t>ציוד בסיסי</a:t>
            </a:r>
            <a:endParaRPr lang="en-US" sz="1500" dirty="0"/>
          </a:p>
        </p:txBody>
      </p:sp>
      <p:sp>
        <p:nvSpPr>
          <p:cNvPr id="8" name="Text 6"/>
          <p:cNvSpPr txBox="1"/>
          <p:nvPr/>
        </p:nvSpPr>
        <p:spPr>
          <a:xfrm>
            <a:off x="4873752" y="1737360"/>
            <a:ext cx="3648456" cy="2633472"/>
          </a:xfrm>
          <a:prstGeom prst="rect">
            <a:avLst/>
          </a:prstGeom>
          <a:noFill/>
          <a:ln/>
        </p:spPr>
        <p:txBody>
          <a:bodyPr wrap="square" lIns="0" tIns="0" rIns="0" bIns="0" rtlCol="0" anchor="t"/>
          <a:lstStyle/>
          <a:p>
            <a:pPr rtl="1" algn="r" indent="0" marL="0">
              <a:buNone/>
            </a:pPr>
            <a:r>
              <a:rPr lang="en-US" sz="1250" dirty="0">
                <a:solidFill>
                  <a:srgbClr val="1E2421"/>
                </a:solidFill>
                <a:latin typeface="Calibri" pitchFamily="34" charset="0"/>
                <a:ea typeface="Calibri" pitchFamily="34" charset="-122"/>
                <a:cs typeface="Calibri" pitchFamily="34" charset="-120"/>
              </a:rPr>
              <a:t>• נעלי הליכה עם אחיזה טובה</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מעיל רוח ומעיל גשם קל</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שכבה מחממת וכובע</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משקפי שמש, קרם הגנה SPF גבוה</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פנס ראש וסוללה נוספת</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ערכת עזרה ראשונה וחומר לגבהים</a:t>
            </a:r>
            <a:endParaRPr lang="en-US" sz="1250" dirty="0"/>
          </a:p>
          <a:p>
            <a:pPr rtl="1" algn="r" indent="0" marL="0">
              <a:buNone/>
            </a:pPr>
            <a:r>
              <a:rPr lang="en-US" sz="1250" dirty="0">
                <a:solidFill>
                  <a:srgbClr val="1E2421"/>
                </a:solidFill>
                <a:latin typeface="Calibri" pitchFamily="34" charset="0"/>
                <a:ea typeface="Calibri" pitchFamily="34" charset="-122"/>
                <a:cs typeface="Calibri" pitchFamily="34" charset="-120"/>
              </a:rPr>
              <a:t>• מפה פיזית או אפליקציה שעובדת בלי אינטרנט</a:t>
            </a:r>
            <a:endParaRPr lang="en-US" sz="1250" dirty="0"/>
          </a:p>
        </p:txBody>
      </p:sp>
      <p:sp>
        <p:nvSpPr>
          <p:cNvPr id="9" name="Text 7"/>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מקורות: NPS (Hiking Safety), USFS (San Juan). רשימה כללית שאינה מחליפה תכנון אישי לפי מסלול ומשתתפים.</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טיפים לצילום טבע ונוף</a:t>
            </a:r>
            <a:endParaRPr lang="en-US" sz="3200" dirty="0"/>
          </a:p>
        </p:txBody>
      </p:sp>
      <p:sp>
        <p:nvSpPr>
          <p:cNvPr id="3" name="Text 1"/>
          <p:cNvSpPr txBox="1"/>
          <p:nvPr/>
        </p:nvSpPr>
        <p:spPr>
          <a:xfrm>
            <a:off x="457200" y="1188720"/>
            <a:ext cx="8229600" cy="3200400"/>
          </a:xfrm>
          <a:prstGeom prst="rect">
            <a:avLst/>
          </a:prstGeom>
          <a:noFill/>
          <a:ln/>
        </p:spPr>
        <p:txBody>
          <a:bodyPr wrap="square" lIns="0" tIns="0" rIns="0" bIns="0" rtlCol="0" anchor="t"/>
          <a:lstStyle/>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שעת הזהב: זריחה ושקיעה נותנים אור רך. באזורי הרכס אפשר לצלם גם לפני עלות השמש ואחריה.</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צילום בגובה: לעבוד עם פולרייזר (משקף קיטוב) על מים ועננים, ולבדוק את האור לפני שמתחילים.</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פרחים ובעלי חיים: לעבוד עם עדשת זום ולשמור מרחק. בעלי חיים בטבע הם מרוחקים ומשתנים כל רגע.</a:t>
            </a:r>
            <a:endParaRPr lang="en-US" sz="1500" dirty="0"/>
          </a:p>
          <a:p>
            <a:pPr algn="r" marL="177800" indent="-177800">
              <a:spcAft>
                <a:spcPts val="600"/>
              </a:spcAft>
              <a:buSzPct val="100000"/>
              <a:buChar char="•"/>
            </a:pPr>
            <a:r>
              <a:rPr lang="en-US" sz="1500" dirty="0">
                <a:solidFill>
                  <a:srgbClr val="1E2421"/>
                </a:solidFill>
                <a:latin typeface="Calibri" pitchFamily="34" charset="0"/>
                <a:ea typeface="Calibri" pitchFamily="34" charset="-122"/>
                <a:cs typeface="Calibri" pitchFamily="34" charset="-120"/>
              </a:rPr>
              <a:t>צילום מכביש: לא לעצור על כביש צר. להשתמש בחניונים מסודרים בלבד.</a:t>
            </a:r>
            <a:endParaRPr lang="en-US" sz="1500" dirty="0"/>
          </a:p>
        </p:txBody>
      </p:sp>
      <p:sp>
        <p:nvSpPr>
          <p:cNvPr id="4" name="Text 2"/>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טיפים כלליים לצילום נוף וטבע. כללי חניה וצילום בשמורות NPS מפורטים באתר הפארק.</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4"/>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rtl="1" algn="r" indent="0" marL="0">
              <a:buNone/>
            </a:pPr>
            <a:r>
              <a:rPr lang="en-US" sz="3200" b="1" dirty="0">
                <a:solidFill>
                  <a:srgbClr val="1E2421"/>
                </a:solidFill>
                <a:latin typeface="Cambria" pitchFamily="34" charset="0"/>
                <a:ea typeface="Cambria" pitchFamily="34" charset="-122"/>
                <a:cs typeface="Cambria" pitchFamily="34" charset="-120"/>
              </a:rPr>
              <a:t>מקורות רשמיים להמשך תכנון</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3474720"/>
                <a:gridCol w="1828800"/>
              </a:tblGrid>
              <a:tr h="475488">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מקור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למה לבדוק</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c>
                  <a:txBody>
                    <a:bodyPr/>
                    <a:lstStyle/>
                    <a:p>
                      <a:pPr rtl="1" algn="r" indent="0" marL="0">
                        <a:buNone/>
                      </a:pPr>
                      <a:r>
                        <a:rPr lang="en-US" sz="1200" b="1" dirty="0">
                          <a:solidFill>
                            <a:srgbClr val="FFFFFF"/>
                          </a:solidFill>
                          <a:latin typeface="Calibri" pitchFamily="34" charset="0"/>
                          <a:ea typeface="Calibri" pitchFamily="34" charset="-122"/>
                          <a:cs typeface="Calibri" pitchFamily="34" charset="-120"/>
                        </a:rPr>
                        <a:t>קישור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2F5D46"/>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National Park Service (RMNP)</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Timed Entry, Bear Lake Road, סגירות שבילים</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nps.gov/romo</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USDA Forest Service (San Juan NF)</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שבילי Ice Lake ו-Blue Lakes, תנאי שטח</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fs.usda.gov/sanjuan</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Colorado Parks &amp; Wildlife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בעלי חיים, כללי ציד וגישה</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cpw.state.co.us</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CDOT (cotrip.org)</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מצב כבישים: US 550, Trail Ridge</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cotrip.org</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NOAA / NWS</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תחזית ומזג אוויר באזור</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weather.gov</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EEF2EE"/>
                    </a:solidFill>
                  </a:tcPr>
                </a:tc>
              </a:tr>
              <a:tr h="475488">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Pikes Peak – America's Mountain</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תעריפים, שעות, הזמנות</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c>
                  <a:txBody>
                    <a:bodyPr/>
                    <a:lstStyle/>
                    <a:p>
                      <a:pPr rtl="1" algn="r" indent="0" marL="0">
                        <a:buNone/>
                      </a:pPr>
                      <a:r>
                        <a:rPr lang="en-US" sz="1200" dirty="0">
                          <a:solidFill>
                            <a:srgbClr val="1E2421"/>
                          </a:solidFill>
                          <a:latin typeface="Calibri" pitchFamily="34" charset="0"/>
                          <a:ea typeface="Calibri" pitchFamily="34" charset="-122"/>
                          <a:cs typeface="Calibri" pitchFamily="34" charset="-120"/>
                        </a:rPr>
                        <a:t>drivepikespeak.com</a:t>
                      </a:r>
                      <a:endParaRPr lang="en-US" sz="1200" dirty="0">
                        <a:latin typeface="Calibri" charset="0"/>
                        <a:ea typeface="Calibri" charset="0"/>
                        <a:cs typeface="Calibri" charset="0"/>
                      </a:endParaRPr>
                    </a:p>
                  </a:txBody>
                  <a:tcPr marL="45720" marR="45720" marT="45720" marB="45720" anchor="ctr">
                    <a:lnL w="9525" cap="flat" cmpd="sng" algn="ctr">
                      <a:solidFill>
                        <a:srgbClr val="D5DCD6"/>
                      </a:solidFill>
                      <a:prstDash val="solid"/>
                      <a:round/>
                      <a:headEnd type="none" w="med" len="med"/>
                      <a:tailEnd type="none" w="med" len="med"/>
                    </a:lnL>
                    <a:lnR w="9525" cap="flat" cmpd="sng" algn="ctr">
                      <a:solidFill>
                        <a:srgbClr val="D5DCD6"/>
                      </a:solidFill>
                      <a:prstDash val="solid"/>
                      <a:round/>
                      <a:headEnd type="none" w="med" len="med"/>
                      <a:tailEnd type="none" w="med" len="med"/>
                    </a:lnR>
                    <a:lnT w="9525" cap="flat" cmpd="sng" algn="ctr">
                      <a:solidFill>
                        <a:srgbClr val="D5DCD6"/>
                      </a:solidFill>
                      <a:prstDash val="solid"/>
                      <a:round/>
                      <a:headEnd type="none" w="med" len="med"/>
                      <a:tailEnd type="none" w="med" len="med"/>
                    </a:lnT>
                    <a:lnB w="9525" cap="flat" cmpd="sng" algn="ctr">
                      <a:solidFill>
                        <a:srgbClr val="D5DC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292608"/>
          </a:xfrm>
          <a:prstGeom prst="rect">
            <a:avLst/>
          </a:prstGeom>
          <a:noFill/>
          <a:ln/>
        </p:spPr>
        <p:txBody>
          <a:bodyPr wrap="square" lIns="0" tIns="0" rIns="0" bIns="0" rtlCol="0" anchor="b"/>
          <a:lstStyle/>
          <a:p>
            <a:pPr rtl="1" algn="r" indent="0" marL="0">
              <a:buNone/>
            </a:pPr>
            <a:r>
              <a:rPr lang="en-US" sz="1000" dirty="0">
                <a:solidFill>
                  <a:srgbClr val="5A625E"/>
                </a:solidFill>
                <a:latin typeface="Calibri" pitchFamily="34" charset="0"/>
                <a:ea typeface="Calibri" pitchFamily="34" charset="-122"/>
                <a:cs typeface="Calibri" pitchFamily="34" charset="-120"/>
              </a:rPr>
              <a:t>קישורים מוצגים בשמם הכללי; יש לוודא כתובת מלאה במקור לפני שימוש.</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2E26"/>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ctr"/>
          <a:lstStyle/>
          <a:p>
            <a:pPr rtl="1" algn="r" indent="0" marL="0">
              <a:buNone/>
            </a:pPr>
            <a:r>
              <a:rPr lang="en-US" sz="3200" b="1" dirty="0">
                <a:solidFill>
                  <a:srgbClr val="FFFFFF"/>
                </a:solidFill>
                <a:latin typeface="Cambria" pitchFamily="34" charset="0"/>
                <a:ea typeface="Cambria" pitchFamily="34" charset="-122"/>
                <a:cs typeface="Cambria" pitchFamily="34" charset="-120"/>
              </a:rPr>
              <a:t>השלבים הבאים לפני הטיול</a:t>
            </a:r>
            <a:endParaRPr lang="en-US" sz="3200" dirty="0"/>
          </a:p>
        </p:txBody>
      </p:sp>
      <p:sp>
        <p:nvSpPr>
          <p:cNvPr id="3" name="Text 1"/>
          <p:cNvSpPr txBox="1"/>
          <p:nvPr/>
        </p:nvSpPr>
        <p:spPr>
          <a:xfrm>
            <a:off x="457200" y="1280160"/>
            <a:ext cx="8229600" cy="3108960"/>
          </a:xfrm>
          <a:prstGeom prst="rect">
            <a:avLst/>
          </a:prstGeom>
          <a:noFill/>
          <a:ln/>
        </p:spPr>
        <p:txBody>
          <a:bodyPr wrap="square" lIns="0" tIns="0" rIns="0" bIns="0" rtlCol="0" anchor="t"/>
          <a:lstStyle/>
          <a:p>
            <a:pPr algn="r" marL="177800" indent="-1778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לאמת את כל הערכים המסומנים [לאימות] במקור הרשמי (מרחקים, הפרשי גובה, זמני הליכה).</a:t>
            </a:r>
            <a:endParaRPr lang="en-US" sz="1500" dirty="0"/>
          </a:p>
          <a:p>
            <a:pPr algn="r" marL="177800" indent="-1778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לבדוק את סטטוס US 550 (Million Dollar Highway) ב-CDOT לפני הנסיעה.</a:t>
            </a:r>
            <a:endParaRPr lang="en-US" sz="1500" dirty="0"/>
          </a:p>
          <a:p>
            <a:pPr algn="r" marL="177800" indent="-1778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לבדוק כללי כניסה ל-RMNP לשנה של הטיול: Timed Entry, Bear Lake Road ומועדי הזמנה.</a:t>
            </a:r>
            <a:endParaRPr lang="en-US" sz="1500" dirty="0"/>
          </a:p>
          <a:p>
            <a:pPr algn="r" marL="177800" indent="-1778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לחשב זמני נסיעה בין האזורים ולקבוע את סדר הביקור הסופי.</a:t>
            </a:r>
            <a:endParaRPr lang="en-US" sz="1500" dirty="0"/>
          </a:p>
          <a:p>
            <a:pPr algn="r" marL="177800" indent="-1778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להשלים תכנון יום 4 בקולורדו ויום 4–5 ב-San Juan ויום 6 ב-RMNP.</a:t>
            </a:r>
            <a:endParaRPr lang="en-US" sz="1500" dirty="0"/>
          </a:p>
        </p:txBody>
      </p:sp>
      <p:sp>
        <p:nvSpPr>
          <p:cNvPr id="4" name="Text 2"/>
          <p:cNvSpPr txBox="1"/>
          <p:nvPr/>
        </p:nvSpPr>
        <p:spPr>
          <a:xfrm>
            <a:off x="457200" y="4297680"/>
            <a:ext cx="8229600" cy="365760"/>
          </a:xfrm>
          <a:prstGeom prst="rect">
            <a:avLst/>
          </a:prstGeom>
          <a:noFill/>
          <a:ln/>
        </p:spPr>
        <p:txBody>
          <a:bodyPr wrap="square" lIns="0" tIns="0" rIns="0" bIns="0" rtlCol="0" anchor="ctr"/>
          <a:lstStyle/>
          <a:p>
            <a:pPr rtl="1" algn="r" indent="0" marL="0">
              <a:buNone/>
            </a:pPr>
            <a:r>
              <a:rPr lang="en-US" sz="1100" i="1" dirty="0">
                <a:solidFill>
                  <a:srgbClr val="C9D6CE"/>
                </a:solidFill>
                <a:latin typeface="Calibri" pitchFamily="34" charset="0"/>
                <a:ea typeface="Calibri" pitchFamily="34" charset="-122"/>
                <a:cs typeface="Calibri" pitchFamily="34" charset="-120"/>
              </a:rPr>
              <a:t>[תמונה לשילוב בסיום: נוף רחב של הרי הרוקי עם השמש שוקעת, צילום אמיתי]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מסע טבע בקולורדו – Colorado Wilderness Expedition</dc:title>
  <dc:subject>PptxGenJS Presentation</dc:subject>
  <dc:creator>PptxGenJS</dc:creator>
  <cp:lastModifiedBy>PptxGenJS</cp:lastModifiedBy>
  <cp:revision>1</cp:revision>
  <dcterms:created xsi:type="dcterms:W3CDTF">2026-10-30T11:27:24Z</dcterms:created>
  <dcterms:modified xsi:type="dcterms:W3CDTF">2026-10-30T11:27:24Z</dcterms:modified>
</cp:coreProperties>
</file>